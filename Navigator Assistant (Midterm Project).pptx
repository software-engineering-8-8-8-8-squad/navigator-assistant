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Poppins Bold" charset="1" panose="00000800000000000000"/>
      <p:regular r:id="rId19"/>
    </p:embeddedFont>
    <p:embeddedFont>
      <p:font typeface="Poppins" charset="1" panose="000005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https://github.com/Software-Engineering-8-8-8-8-Squad/navigator-assistant" TargetMode="External" Type="http://schemas.openxmlformats.org/officeDocument/2006/relationships/hyperlink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4.png" Type="http://schemas.openxmlformats.org/officeDocument/2006/relationships/image"/><Relationship Id="rId5" Target="../media/image10.jpeg" Type="http://schemas.openxmlformats.org/officeDocument/2006/relationships/image"/><Relationship Id="rId6" Target="../media/image1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2.jpeg" Type="http://schemas.openxmlformats.org/officeDocument/2006/relationships/image"/><Relationship Id="rId5" Target="../media/image13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2.jpeg" Type="http://schemas.openxmlformats.org/officeDocument/2006/relationships/image"/><Relationship Id="rId5" Target="../media/image13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4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4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4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https://github.com/Software-Engineering-8-8-8-8-Squad/navigator-assistant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984748" y="6364540"/>
            <a:ext cx="2318505" cy="859631"/>
            <a:chOff x="0" y="0"/>
            <a:chExt cx="610635" cy="22640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10635" cy="226405"/>
            </a:xfrm>
            <a:custGeom>
              <a:avLst/>
              <a:gdLst/>
              <a:ahLst/>
              <a:cxnLst/>
              <a:rect r="r" b="b" t="t" l="l"/>
              <a:pathLst>
                <a:path h="226405" w="610635">
                  <a:moveTo>
                    <a:pt x="113202" y="0"/>
                  </a:moveTo>
                  <a:lnTo>
                    <a:pt x="497433" y="0"/>
                  </a:lnTo>
                  <a:cubicBezTo>
                    <a:pt x="559953" y="0"/>
                    <a:pt x="610635" y="50682"/>
                    <a:pt x="610635" y="113202"/>
                  </a:cubicBezTo>
                  <a:lnTo>
                    <a:pt x="610635" y="113202"/>
                  </a:lnTo>
                  <a:cubicBezTo>
                    <a:pt x="610635" y="143226"/>
                    <a:pt x="598708" y="172019"/>
                    <a:pt x="577479" y="193249"/>
                  </a:cubicBezTo>
                  <a:cubicBezTo>
                    <a:pt x="556249" y="214478"/>
                    <a:pt x="527456" y="226405"/>
                    <a:pt x="497433" y="226405"/>
                  </a:cubicBezTo>
                  <a:lnTo>
                    <a:pt x="113202" y="226405"/>
                  </a:lnTo>
                  <a:cubicBezTo>
                    <a:pt x="83179" y="226405"/>
                    <a:pt x="54386" y="214478"/>
                    <a:pt x="33156" y="193249"/>
                  </a:cubicBezTo>
                  <a:cubicBezTo>
                    <a:pt x="11927" y="172019"/>
                    <a:pt x="0" y="143226"/>
                    <a:pt x="0" y="113202"/>
                  </a:cubicBezTo>
                  <a:lnTo>
                    <a:pt x="0" y="113202"/>
                  </a:lnTo>
                  <a:cubicBezTo>
                    <a:pt x="0" y="83179"/>
                    <a:pt x="11927" y="54386"/>
                    <a:pt x="33156" y="33156"/>
                  </a:cubicBezTo>
                  <a:cubicBezTo>
                    <a:pt x="54386" y="11927"/>
                    <a:pt x="83179" y="0"/>
                    <a:pt x="113202" y="0"/>
                  </a:cubicBezTo>
                  <a:close/>
                </a:path>
              </a:pathLst>
            </a:custGeom>
            <a:solidFill>
              <a:srgbClr val="FF00F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610635" cy="2930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6333348" y="8447529"/>
            <a:ext cx="925952" cy="919347"/>
            <a:chOff x="0" y="0"/>
            <a:chExt cx="289003" cy="28694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89003" cy="286941"/>
            </a:xfrm>
            <a:custGeom>
              <a:avLst/>
              <a:gdLst/>
              <a:ahLst/>
              <a:cxnLst/>
              <a:rect r="r" b="b" t="t" l="l"/>
              <a:pathLst>
                <a:path h="286941" w="289003">
                  <a:moveTo>
                    <a:pt x="143471" y="0"/>
                  </a:moveTo>
                  <a:lnTo>
                    <a:pt x="145532" y="0"/>
                  </a:lnTo>
                  <a:cubicBezTo>
                    <a:pt x="183583" y="0"/>
                    <a:pt x="220075" y="15116"/>
                    <a:pt x="246981" y="42022"/>
                  </a:cubicBezTo>
                  <a:cubicBezTo>
                    <a:pt x="273887" y="68928"/>
                    <a:pt x="289003" y="105420"/>
                    <a:pt x="289003" y="143471"/>
                  </a:cubicBezTo>
                  <a:lnTo>
                    <a:pt x="289003" y="143471"/>
                  </a:lnTo>
                  <a:cubicBezTo>
                    <a:pt x="289003" y="181521"/>
                    <a:pt x="273887" y="218014"/>
                    <a:pt x="246981" y="244920"/>
                  </a:cubicBezTo>
                  <a:cubicBezTo>
                    <a:pt x="220075" y="271826"/>
                    <a:pt x="183583" y="286941"/>
                    <a:pt x="145532" y="286941"/>
                  </a:cubicBezTo>
                  <a:lnTo>
                    <a:pt x="143471" y="286941"/>
                  </a:lnTo>
                  <a:cubicBezTo>
                    <a:pt x="105420" y="286941"/>
                    <a:pt x="68928" y="271826"/>
                    <a:pt x="42022" y="244920"/>
                  </a:cubicBezTo>
                  <a:cubicBezTo>
                    <a:pt x="15116" y="218014"/>
                    <a:pt x="0" y="181521"/>
                    <a:pt x="0" y="143471"/>
                  </a:cubicBezTo>
                  <a:lnTo>
                    <a:pt x="0" y="143471"/>
                  </a:lnTo>
                  <a:cubicBezTo>
                    <a:pt x="0" y="105420"/>
                    <a:pt x="15116" y="68928"/>
                    <a:pt x="42022" y="42022"/>
                  </a:cubicBezTo>
                  <a:cubicBezTo>
                    <a:pt x="68928" y="15116"/>
                    <a:pt x="105420" y="0"/>
                    <a:pt x="14347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89003" cy="3250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-5400000">
            <a:off x="16650402" y="8694263"/>
            <a:ext cx="315151" cy="425879"/>
          </a:xfrm>
          <a:custGeom>
            <a:avLst/>
            <a:gdLst/>
            <a:ahLst/>
            <a:cxnLst/>
            <a:rect r="r" b="b" t="t" l="l"/>
            <a:pathLst>
              <a:path h="425879" w="315151">
                <a:moveTo>
                  <a:pt x="0" y="0"/>
                </a:moveTo>
                <a:lnTo>
                  <a:pt x="315151" y="0"/>
                </a:lnTo>
                <a:lnTo>
                  <a:pt x="315151" y="425880"/>
                </a:lnTo>
                <a:lnTo>
                  <a:pt x="0" y="4258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032634" y="2719668"/>
            <a:ext cx="12222732" cy="325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480"/>
              </a:lnSpc>
            </a:pPr>
            <a:r>
              <a:rPr lang="en-US" b="true" sz="104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NAVIGATOR ASSISTANT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144000" y="965066"/>
            <a:ext cx="1662550" cy="40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151"/>
              </a:lnSpc>
              <a:spcBef>
                <a:spcPct val="0"/>
              </a:spcBef>
            </a:pPr>
            <a:r>
              <a:rPr lang="en-US" b="true" sz="225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Home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408122" y="967280"/>
            <a:ext cx="1907082" cy="409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51"/>
              </a:lnSpc>
              <a:spcBef>
                <a:spcPct val="0"/>
              </a:spcBef>
            </a:pPr>
            <a:r>
              <a:rPr lang="en-US" sz="22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726729" y="943100"/>
            <a:ext cx="1916881" cy="409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51"/>
              </a:lnSpc>
              <a:spcBef>
                <a:spcPct val="0"/>
              </a:spcBef>
            </a:pPr>
            <a:r>
              <a:rPr lang="en-US" sz="22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Content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034325" y="965066"/>
            <a:ext cx="2224975" cy="409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151"/>
              </a:lnSpc>
              <a:spcBef>
                <a:spcPct val="0"/>
              </a:spcBef>
            </a:pPr>
            <a:r>
              <a:rPr lang="en-US" sz="22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Others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528677" y="6608618"/>
            <a:ext cx="3230646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b="true" sz="2200" u="sng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  <a:hlinkClick r:id="rId5" tooltip="https://github.com/Software-Engineering-8-8-8-8-Squad/navigator-assistant"/>
              </a:rPr>
              <a:t>READ MORE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33333">
              <a:srgbClr val="0F0059">
                <a:alpha val="100000"/>
              </a:srgbClr>
            </a:gs>
            <a:gs pos="66667">
              <a:srgbClr val="00E8FF">
                <a:alpha val="100000"/>
              </a:srgbClr>
            </a:gs>
            <a:gs pos="100000">
              <a:srgbClr val="A600FF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848245" y="-3691099"/>
            <a:ext cx="9639356" cy="8229600"/>
          </a:xfrm>
          <a:custGeom>
            <a:avLst/>
            <a:gdLst/>
            <a:ahLst/>
            <a:cxnLst/>
            <a:rect r="r" b="b" t="t" l="l"/>
            <a:pathLst>
              <a:path h="8229600" w="9639356">
                <a:moveTo>
                  <a:pt x="0" y="0"/>
                </a:moveTo>
                <a:lnTo>
                  <a:pt x="9639356" y="0"/>
                </a:lnTo>
                <a:lnTo>
                  <a:pt x="9639356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52965" y="836497"/>
            <a:ext cx="384406" cy="384406"/>
          </a:xfrm>
          <a:custGeom>
            <a:avLst/>
            <a:gdLst/>
            <a:ahLst/>
            <a:cxnLst/>
            <a:rect r="r" b="b" t="t" l="l"/>
            <a:pathLst>
              <a:path h="384406" w="384406">
                <a:moveTo>
                  <a:pt x="0" y="0"/>
                </a:moveTo>
                <a:lnTo>
                  <a:pt x="384405" y="0"/>
                </a:lnTo>
                <a:lnTo>
                  <a:pt x="384405" y="384406"/>
                </a:lnTo>
                <a:lnTo>
                  <a:pt x="0" y="3844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513240" y="2764469"/>
            <a:ext cx="6136074" cy="5276023"/>
            <a:chOff x="0" y="0"/>
            <a:chExt cx="1320861" cy="113572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20861" cy="1135725"/>
            </a:xfrm>
            <a:custGeom>
              <a:avLst/>
              <a:gdLst/>
              <a:ahLst/>
              <a:cxnLst/>
              <a:rect r="r" b="b" t="t" l="l"/>
              <a:pathLst>
                <a:path h="1135725" w="1320861">
                  <a:moveTo>
                    <a:pt x="50468" y="0"/>
                  </a:moveTo>
                  <a:lnTo>
                    <a:pt x="1270393" y="0"/>
                  </a:lnTo>
                  <a:cubicBezTo>
                    <a:pt x="1283778" y="0"/>
                    <a:pt x="1296615" y="5317"/>
                    <a:pt x="1306079" y="14782"/>
                  </a:cubicBezTo>
                  <a:cubicBezTo>
                    <a:pt x="1315544" y="24246"/>
                    <a:pt x="1320861" y="37083"/>
                    <a:pt x="1320861" y="50468"/>
                  </a:cubicBezTo>
                  <a:lnTo>
                    <a:pt x="1320861" y="1085257"/>
                  </a:lnTo>
                  <a:cubicBezTo>
                    <a:pt x="1320861" y="1098642"/>
                    <a:pt x="1315544" y="1111479"/>
                    <a:pt x="1306079" y="1120943"/>
                  </a:cubicBezTo>
                  <a:cubicBezTo>
                    <a:pt x="1296615" y="1130408"/>
                    <a:pt x="1283778" y="1135725"/>
                    <a:pt x="1270393" y="1135725"/>
                  </a:cubicBezTo>
                  <a:lnTo>
                    <a:pt x="50468" y="1135725"/>
                  </a:lnTo>
                  <a:cubicBezTo>
                    <a:pt x="37083" y="1135725"/>
                    <a:pt x="24246" y="1130408"/>
                    <a:pt x="14782" y="1120943"/>
                  </a:cubicBezTo>
                  <a:cubicBezTo>
                    <a:pt x="5317" y="1111479"/>
                    <a:pt x="0" y="1098642"/>
                    <a:pt x="0" y="1085257"/>
                  </a:cubicBezTo>
                  <a:lnTo>
                    <a:pt x="0" y="50468"/>
                  </a:lnTo>
                  <a:cubicBezTo>
                    <a:pt x="0" y="37083"/>
                    <a:pt x="5317" y="24246"/>
                    <a:pt x="14782" y="14782"/>
                  </a:cubicBezTo>
                  <a:cubicBezTo>
                    <a:pt x="24246" y="5317"/>
                    <a:pt x="37083" y="0"/>
                    <a:pt x="50468" y="0"/>
                  </a:cubicBezTo>
                  <a:close/>
                </a:path>
              </a:pathLst>
            </a:custGeom>
            <a:blipFill>
              <a:blip r:embed="rId5"/>
              <a:stretch>
                <a:fillRect l="-13339" t="0" r="-13339" b="0"/>
              </a:stretch>
            </a:blipFill>
            <a:ln w="209550" cap="rnd">
              <a:gradFill>
                <a:gsLst>
                  <a:gs pos="0">
                    <a:srgbClr val="0039E6">
                      <a:alpha val="100000"/>
                    </a:srgbClr>
                  </a:gs>
                  <a:gs pos="100000">
                    <a:srgbClr val="3CFFE2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prstDash val="solid"/>
              <a:round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1557999" y="828992"/>
            <a:ext cx="2916319" cy="34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Software Engineering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44000" y="965066"/>
            <a:ext cx="1662550" cy="409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151"/>
              </a:lnSpc>
              <a:spcBef>
                <a:spcPct val="0"/>
              </a:spcBef>
            </a:pPr>
            <a:r>
              <a:rPr lang="en-US" sz="22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408122" y="967280"/>
            <a:ext cx="1907082" cy="409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51"/>
              </a:lnSpc>
              <a:spcBef>
                <a:spcPct val="0"/>
              </a:spcBef>
            </a:pPr>
            <a:r>
              <a:rPr lang="en-US" b="true" sz="225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About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726729" y="943100"/>
            <a:ext cx="1916881" cy="409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51"/>
              </a:lnSpc>
              <a:spcBef>
                <a:spcPct val="0"/>
              </a:spcBef>
            </a:pPr>
            <a:r>
              <a:rPr lang="en-US" sz="22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Content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034325" y="965066"/>
            <a:ext cx="2224975" cy="409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151"/>
              </a:lnSpc>
              <a:spcBef>
                <a:spcPct val="0"/>
              </a:spcBef>
            </a:pPr>
            <a:r>
              <a:rPr lang="en-US" sz="22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Others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57999" y="3148235"/>
            <a:ext cx="4486180" cy="1227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56"/>
              </a:lnSpc>
            </a:pPr>
            <a:r>
              <a:rPr lang="en-US" sz="763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ABOUT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57999" y="4309095"/>
            <a:ext cx="9248551" cy="1227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56"/>
              </a:lnSpc>
            </a:pPr>
            <a:r>
              <a:rPr lang="en-US" sz="7630" b="true">
                <a:solidFill>
                  <a:srgbClr val="65FFE8"/>
                </a:solidFill>
                <a:latin typeface="Poppins Bold"/>
                <a:ea typeface="Poppins Bold"/>
                <a:cs typeface="Poppins Bold"/>
                <a:sym typeface="Poppins Bold"/>
              </a:rPr>
              <a:t>TEAM MEMBERS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52965" y="5595776"/>
            <a:ext cx="8091035" cy="2444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51"/>
              </a:lnSpc>
            </a:pPr>
          </a:p>
          <a:p>
            <a:pPr algn="just">
              <a:lnSpc>
                <a:spcPts val="3851"/>
              </a:lnSpc>
            </a:pPr>
            <a:r>
              <a:rPr lang="en-US" sz="27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Akylova Adinai 12214747</a:t>
            </a:r>
          </a:p>
          <a:p>
            <a:pPr algn="just">
              <a:lnSpc>
                <a:spcPts val="3851"/>
              </a:lnSpc>
            </a:pPr>
            <a:r>
              <a:rPr lang="en-US" sz="27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Abdulloh Shabonov 12214754</a:t>
            </a:r>
          </a:p>
          <a:p>
            <a:pPr algn="just">
              <a:lnSpc>
                <a:spcPts val="3851"/>
              </a:lnSpc>
            </a:pPr>
            <a:r>
              <a:rPr lang="en-US" sz="27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Kerimaliev Eldar 12230333</a:t>
            </a:r>
          </a:p>
          <a:p>
            <a:pPr algn="just">
              <a:lnSpc>
                <a:spcPts val="3851"/>
              </a:lnSpc>
            </a:pPr>
            <a:r>
              <a:rPr lang="en-US" sz="27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Khursanov Nazarbek 12225171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50004A">
                <a:alpha val="100000"/>
              </a:srgbClr>
            </a:gs>
            <a:gs pos="33333">
              <a:srgbClr val="31B4CB">
                <a:alpha val="100000"/>
              </a:srgbClr>
            </a:gs>
            <a:gs pos="66667">
              <a:srgbClr val="000000">
                <a:alpha val="100000"/>
              </a:srgbClr>
            </a:gs>
            <a:gs pos="100000">
              <a:srgbClr val="0F0059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52965" y="836497"/>
            <a:ext cx="384406" cy="384406"/>
          </a:xfrm>
          <a:custGeom>
            <a:avLst/>
            <a:gdLst/>
            <a:ahLst/>
            <a:cxnLst/>
            <a:rect r="r" b="b" t="t" l="l"/>
            <a:pathLst>
              <a:path h="384406" w="384406">
                <a:moveTo>
                  <a:pt x="0" y="0"/>
                </a:moveTo>
                <a:lnTo>
                  <a:pt x="384405" y="0"/>
                </a:lnTo>
                <a:lnTo>
                  <a:pt x="384405" y="384406"/>
                </a:lnTo>
                <a:lnTo>
                  <a:pt x="0" y="3844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685170" y="-4486779"/>
            <a:ext cx="9639356" cy="8229600"/>
          </a:xfrm>
          <a:custGeom>
            <a:avLst/>
            <a:gdLst/>
            <a:ahLst/>
            <a:cxnLst/>
            <a:rect r="r" b="b" t="t" l="l"/>
            <a:pathLst>
              <a:path h="8229600" w="9639356">
                <a:moveTo>
                  <a:pt x="0" y="0"/>
                </a:moveTo>
                <a:lnTo>
                  <a:pt x="9639356" y="0"/>
                </a:lnTo>
                <a:lnTo>
                  <a:pt x="9639356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2233393" y="5248539"/>
            <a:ext cx="4151998" cy="1727659"/>
            <a:chOff x="0" y="0"/>
            <a:chExt cx="1093530" cy="45502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3530" cy="455021"/>
            </a:xfrm>
            <a:custGeom>
              <a:avLst/>
              <a:gdLst/>
              <a:ahLst/>
              <a:cxnLst/>
              <a:rect r="r" b="b" t="t" l="l"/>
              <a:pathLst>
                <a:path h="455021" w="1093530">
                  <a:moveTo>
                    <a:pt x="95096" y="0"/>
                  </a:moveTo>
                  <a:lnTo>
                    <a:pt x="998435" y="0"/>
                  </a:lnTo>
                  <a:cubicBezTo>
                    <a:pt x="1023655" y="0"/>
                    <a:pt x="1047844" y="10019"/>
                    <a:pt x="1065677" y="27853"/>
                  </a:cubicBezTo>
                  <a:cubicBezTo>
                    <a:pt x="1083511" y="45687"/>
                    <a:pt x="1093530" y="69875"/>
                    <a:pt x="1093530" y="95096"/>
                  </a:cubicBezTo>
                  <a:lnTo>
                    <a:pt x="1093530" y="359925"/>
                  </a:lnTo>
                  <a:cubicBezTo>
                    <a:pt x="1093530" y="412445"/>
                    <a:pt x="1050954" y="455021"/>
                    <a:pt x="998435" y="455021"/>
                  </a:cubicBezTo>
                  <a:lnTo>
                    <a:pt x="95096" y="455021"/>
                  </a:lnTo>
                  <a:cubicBezTo>
                    <a:pt x="42576" y="455021"/>
                    <a:pt x="0" y="412445"/>
                    <a:pt x="0" y="359925"/>
                  </a:cubicBezTo>
                  <a:lnTo>
                    <a:pt x="0" y="95096"/>
                  </a:lnTo>
                  <a:cubicBezTo>
                    <a:pt x="0" y="42576"/>
                    <a:pt x="42576" y="0"/>
                    <a:pt x="9509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39E6">
                    <a:alpha val="78000"/>
                  </a:srgbClr>
                </a:gs>
                <a:gs pos="100000">
                  <a:srgbClr val="3CFFE2">
                    <a:alpha val="78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cap="rnd">
              <a:noFill/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66675"/>
              <a:ext cx="1093530" cy="5216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2233393" y="6000246"/>
            <a:ext cx="4151998" cy="1951904"/>
            <a:chOff x="0" y="0"/>
            <a:chExt cx="1093530" cy="51408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93530" cy="514082"/>
            </a:xfrm>
            <a:custGeom>
              <a:avLst/>
              <a:gdLst/>
              <a:ahLst/>
              <a:cxnLst/>
              <a:rect r="r" b="b" t="t" l="l"/>
              <a:pathLst>
                <a:path h="514082" w="1093530">
                  <a:moveTo>
                    <a:pt x="95096" y="0"/>
                  </a:moveTo>
                  <a:lnTo>
                    <a:pt x="998435" y="0"/>
                  </a:lnTo>
                  <a:cubicBezTo>
                    <a:pt x="1023655" y="0"/>
                    <a:pt x="1047844" y="10019"/>
                    <a:pt x="1065677" y="27853"/>
                  </a:cubicBezTo>
                  <a:cubicBezTo>
                    <a:pt x="1083511" y="45687"/>
                    <a:pt x="1093530" y="69875"/>
                    <a:pt x="1093530" y="95096"/>
                  </a:cubicBezTo>
                  <a:lnTo>
                    <a:pt x="1093530" y="418986"/>
                  </a:lnTo>
                  <a:cubicBezTo>
                    <a:pt x="1093530" y="471506"/>
                    <a:pt x="1050954" y="514082"/>
                    <a:pt x="998435" y="514082"/>
                  </a:cubicBezTo>
                  <a:lnTo>
                    <a:pt x="95096" y="514082"/>
                  </a:lnTo>
                  <a:cubicBezTo>
                    <a:pt x="42576" y="514082"/>
                    <a:pt x="0" y="471506"/>
                    <a:pt x="0" y="418986"/>
                  </a:cubicBezTo>
                  <a:lnTo>
                    <a:pt x="0" y="95096"/>
                  </a:lnTo>
                  <a:cubicBezTo>
                    <a:pt x="0" y="42576"/>
                    <a:pt x="42576" y="0"/>
                    <a:pt x="95096" y="0"/>
                  </a:cubicBezTo>
                  <a:close/>
                </a:path>
              </a:pathLst>
            </a:custGeom>
            <a:solidFill>
              <a:srgbClr val="FFFFFF">
                <a:alpha val="62745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66675"/>
              <a:ext cx="1093530" cy="5807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068001" y="5248539"/>
            <a:ext cx="4151998" cy="1727659"/>
            <a:chOff x="0" y="0"/>
            <a:chExt cx="1093530" cy="45502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93530" cy="455021"/>
            </a:xfrm>
            <a:custGeom>
              <a:avLst/>
              <a:gdLst/>
              <a:ahLst/>
              <a:cxnLst/>
              <a:rect r="r" b="b" t="t" l="l"/>
              <a:pathLst>
                <a:path h="455021" w="1093530">
                  <a:moveTo>
                    <a:pt x="95096" y="0"/>
                  </a:moveTo>
                  <a:lnTo>
                    <a:pt x="998435" y="0"/>
                  </a:lnTo>
                  <a:cubicBezTo>
                    <a:pt x="1023655" y="0"/>
                    <a:pt x="1047844" y="10019"/>
                    <a:pt x="1065677" y="27853"/>
                  </a:cubicBezTo>
                  <a:cubicBezTo>
                    <a:pt x="1083511" y="45687"/>
                    <a:pt x="1093530" y="69875"/>
                    <a:pt x="1093530" y="95096"/>
                  </a:cubicBezTo>
                  <a:lnTo>
                    <a:pt x="1093530" y="359925"/>
                  </a:lnTo>
                  <a:cubicBezTo>
                    <a:pt x="1093530" y="412445"/>
                    <a:pt x="1050954" y="455021"/>
                    <a:pt x="998435" y="455021"/>
                  </a:cubicBezTo>
                  <a:lnTo>
                    <a:pt x="95096" y="455021"/>
                  </a:lnTo>
                  <a:cubicBezTo>
                    <a:pt x="42576" y="455021"/>
                    <a:pt x="0" y="412445"/>
                    <a:pt x="0" y="359925"/>
                  </a:cubicBezTo>
                  <a:lnTo>
                    <a:pt x="0" y="95096"/>
                  </a:lnTo>
                  <a:cubicBezTo>
                    <a:pt x="0" y="42576"/>
                    <a:pt x="42576" y="0"/>
                    <a:pt x="9509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39E6">
                    <a:alpha val="78000"/>
                  </a:srgbClr>
                </a:gs>
                <a:gs pos="100000">
                  <a:srgbClr val="3CFFE2">
                    <a:alpha val="78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cap="rnd">
              <a:noFill/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66675"/>
              <a:ext cx="1093530" cy="5216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068001" y="6000246"/>
            <a:ext cx="4151998" cy="1951904"/>
            <a:chOff x="0" y="0"/>
            <a:chExt cx="1093530" cy="51408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93530" cy="514082"/>
            </a:xfrm>
            <a:custGeom>
              <a:avLst/>
              <a:gdLst/>
              <a:ahLst/>
              <a:cxnLst/>
              <a:rect r="r" b="b" t="t" l="l"/>
              <a:pathLst>
                <a:path h="514082" w="1093530">
                  <a:moveTo>
                    <a:pt x="95096" y="0"/>
                  </a:moveTo>
                  <a:lnTo>
                    <a:pt x="998435" y="0"/>
                  </a:lnTo>
                  <a:cubicBezTo>
                    <a:pt x="1023655" y="0"/>
                    <a:pt x="1047844" y="10019"/>
                    <a:pt x="1065677" y="27853"/>
                  </a:cubicBezTo>
                  <a:cubicBezTo>
                    <a:pt x="1083511" y="45687"/>
                    <a:pt x="1093530" y="69875"/>
                    <a:pt x="1093530" y="95096"/>
                  </a:cubicBezTo>
                  <a:lnTo>
                    <a:pt x="1093530" y="418986"/>
                  </a:lnTo>
                  <a:cubicBezTo>
                    <a:pt x="1093530" y="471506"/>
                    <a:pt x="1050954" y="514082"/>
                    <a:pt x="998435" y="514082"/>
                  </a:cubicBezTo>
                  <a:lnTo>
                    <a:pt x="95096" y="514082"/>
                  </a:lnTo>
                  <a:cubicBezTo>
                    <a:pt x="42576" y="514082"/>
                    <a:pt x="0" y="471506"/>
                    <a:pt x="0" y="418986"/>
                  </a:cubicBezTo>
                  <a:lnTo>
                    <a:pt x="0" y="95096"/>
                  </a:lnTo>
                  <a:cubicBezTo>
                    <a:pt x="0" y="42576"/>
                    <a:pt x="42576" y="0"/>
                    <a:pt x="95096" y="0"/>
                  </a:cubicBezTo>
                  <a:close/>
                </a:path>
              </a:pathLst>
            </a:custGeom>
            <a:solidFill>
              <a:srgbClr val="FFFFFF">
                <a:alpha val="62745"/>
              </a:srgbClr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66675"/>
              <a:ext cx="1093530" cy="5807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902609" y="5248539"/>
            <a:ext cx="4151998" cy="1727659"/>
            <a:chOff x="0" y="0"/>
            <a:chExt cx="1093530" cy="45502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93530" cy="455021"/>
            </a:xfrm>
            <a:custGeom>
              <a:avLst/>
              <a:gdLst/>
              <a:ahLst/>
              <a:cxnLst/>
              <a:rect r="r" b="b" t="t" l="l"/>
              <a:pathLst>
                <a:path h="455021" w="1093530">
                  <a:moveTo>
                    <a:pt x="95096" y="0"/>
                  </a:moveTo>
                  <a:lnTo>
                    <a:pt x="998435" y="0"/>
                  </a:lnTo>
                  <a:cubicBezTo>
                    <a:pt x="1023655" y="0"/>
                    <a:pt x="1047844" y="10019"/>
                    <a:pt x="1065677" y="27853"/>
                  </a:cubicBezTo>
                  <a:cubicBezTo>
                    <a:pt x="1083511" y="45687"/>
                    <a:pt x="1093530" y="69875"/>
                    <a:pt x="1093530" y="95096"/>
                  </a:cubicBezTo>
                  <a:lnTo>
                    <a:pt x="1093530" y="359925"/>
                  </a:lnTo>
                  <a:cubicBezTo>
                    <a:pt x="1093530" y="412445"/>
                    <a:pt x="1050954" y="455021"/>
                    <a:pt x="998435" y="455021"/>
                  </a:cubicBezTo>
                  <a:lnTo>
                    <a:pt x="95096" y="455021"/>
                  </a:lnTo>
                  <a:cubicBezTo>
                    <a:pt x="42576" y="455021"/>
                    <a:pt x="0" y="412445"/>
                    <a:pt x="0" y="359925"/>
                  </a:cubicBezTo>
                  <a:lnTo>
                    <a:pt x="0" y="95096"/>
                  </a:lnTo>
                  <a:cubicBezTo>
                    <a:pt x="0" y="42576"/>
                    <a:pt x="42576" y="0"/>
                    <a:pt x="9509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39E6">
                    <a:alpha val="78000"/>
                  </a:srgbClr>
                </a:gs>
                <a:gs pos="100000">
                  <a:srgbClr val="3CFFE2">
                    <a:alpha val="78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cap="rnd">
              <a:noFill/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66675"/>
              <a:ext cx="1093530" cy="5216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1902609" y="6000246"/>
            <a:ext cx="4151998" cy="1951904"/>
            <a:chOff x="0" y="0"/>
            <a:chExt cx="1093530" cy="51408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93530" cy="514082"/>
            </a:xfrm>
            <a:custGeom>
              <a:avLst/>
              <a:gdLst/>
              <a:ahLst/>
              <a:cxnLst/>
              <a:rect r="r" b="b" t="t" l="l"/>
              <a:pathLst>
                <a:path h="514082" w="1093530">
                  <a:moveTo>
                    <a:pt x="95096" y="0"/>
                  </a:moveTo>
                  <a:lnTo>
                    <a:pt x="998435" y="0"/>
                  </a:lnTo>
                  <a:cubicBezTo>
                    <a:pt x="1023655" y="0"/>
                    <a:pt x="1047844" y="10019"/>
                    <a:pt x="1065677" y="27853"/>
                  </a:cubicBezTo>
                  <a:cubicBezTo>
                    <a:pt x="1083511" y="45687"/>
                    <a:pt x="1093530" y="69875"/>
                    <a:pt x="1093530" y="95096"/>
                  </a:cubicBezTo>
                  <a:lnTo>
                    <a:pt x="1093530" y="418986"/>
                  </a:lnTo>
                  <a:cubicBezTo>
                    <a:pt x="1093530" y="471506"/>
                    <a:pt x="1050954" y="514082"/>
                    <a:pt x="998435" y="514082"/>
                  </a:cubicBezTo>
                  <a:lnTo>
                    <a:pt x="95096" y="514082"/>
                  </a:lnTo>
                  <a:cubicBezTo>
                    <a:pt x="42576" y="514082"/>
                    <a:pt x="0" y="471506"/>
                    <a:pt x="0" y="418986"/>
                  </a:cubicBezTo>
                  <a:lnTo>
                    <a:pt x="0" y="95096"/>
                  </a:lnTo>
                  <a:cubicBezTo>
                    <a:pt x="0" y="42576"/>
                    <a:pt x="42576" y="0"/>
                    <a:pt x="95096" y="0"/>
                  </a:cubicBezTo>
                  <a:close/>
                </a:path>
              </a:pathLst>
            </a:custGeom>
            <a:solidFill>
              <a:srgbClr val="FFFFFF">
                <a:alpha val="62745"/>
              </a:srgbClr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66675"/>
              <a:ext cx="1093530" cy="5807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2233393" y="6000246"/>
            <a:ext cx="4151998" cy="1951904"/>
            <a:chOff x="0" y="0"/>
            <a:chExt cx="1093530" cy="51408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93530" cy="514082"/>
            </a:xfrm>
            <a:custGeom>
              <a:avLst/>
              <a:gdLst/>
              <a:ahLst/>
              <a:cxnLst/>
              <a:rect r="r" b="b" t="t" l="l"/>
              <a:pathLst>
                <a:path h="514082" w="1093530">
                  <a:moveTo>
                    <a:pt x="95096" y="0"/>
                  </a:moveTo>
                  <a:lnTo>
                    <a:pt x="998435" y="0"/>
                  </a:lnTo>
                  <a:cubicBezTo>
                    <a:pt x="1023655" y="0"/>
                    <a:pt x="1047844" y="10019"/>
                    <a:pt x="1065677" y="27853"/>
                  </a:cubicBezTo>
                  <a:cubicBezTo>
                    <a:pt x="1083511" y="45687"/>
                    <a:pt x="1093530" y="69875"/>
                    <a:pt x="1093530" y="95096"/>
                  </a:cubicBezTo>
                  <a:lnTo>
                    <a:pt x="1093530" y="418986"/>
                  </a:lnTo>
                  <a:cubicBezTo>
                    <a:pt x="1093530" y="471506"/>
                    <a:pt x="1050954" y="514082"/>
                    <a:pt x="998435" y="514082"/>
                  </a:cubicBezTo>
                  <a:lnTo>
                    <a:pt x="95096" y="514082"/>
                  </a:lnTo>
                  <a:cubicBezTo>
                    <a:pt x="42576" y="514082"/>
                    <a:pt x="0" y="471506"/>
                    <a:pt x="0" y="418986"/>
                  </a:cubicBezTo>
                  <a:lnTo>
                    <a:pt x="0" y="95096"/>
                  </a:lnTo>
                  <a:cubicBezTo>
                    <a:pt x="0" y="42576"/>
                    <a:pt x="42576" y="0"/>
                    <a:pt x="9509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gradFill>
                <a:gsLst>
                  <a:gs pos="0">
                    <a:srgbClr val="0039E6">
                      <a:alpha val="100000"/>
                    </a:srgbClr>
                  </a:gs>
                  <a:gs pos="100000">
                    <a:srgbClr val="3CFFE2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prstDash val="solid"/>
              <a:round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66675"/>
              <a:ext cx="1093530" cy="5807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7068001" y="6000246"/>
            <a:ext cx="4151998" cy="1951904"/>
            <a:chOff x="0" y="0"/>
            <a:chExt cx="1093530" cy="51408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93530" cy="514082"/>
            </a:xfrm>
            <a:custGeom>
              <a:avLst/>
              <a:gdLst/>
              <a:ahLst/>
              <a:cxnLst/>
              <a:rect r="r" b="b" t="t" l="l"/>
              <a:pathLst>
                <a:path h="514082" w="1093530">
                  <a:moveTo>
                    <a:pt x="95096" y="0"/>
                  </a:moveTo>
                  <a:lnTo>
                    <a:pt x="998435" y="0"/>
                  </a:lnTo>
                  <a:cubicBezTo>
                    <a:pt x="1023655" y="0"/>
                    <a:pt x="1047844" y="10019"/>
                    <a:pt x="1065677" y="27853"/>
                  </a:cubicBezTo>
                  <a:cubicBezTo>
                    <a:pt x="1083511" y="45687"/>
                    <a:pt x="1093530" y="69875"/>
                    <a:pt x="1093530" y="95096"/>
                  </a:cubicBezTo>
                  <a:lnTo>
                    <a:pt x="1093530" y="418986"/>
                  </a:lnTo>
                  <a:cubicBezTo>
                    <a:pt x="1093530" y="471506"/>
                    <a:pt x="1050954" y="514082"/>
                    <a:pt x="998435" y="514082"/>
                  </a:cubicBezTo>
                  <a:lnTo>
                    <a:pt x="95096" y="514082"/>
                  </a:lnTo>
                  <a:cubicBezTo>
                    <a:pt x="42576" y="514082"/>
                    <a:pt x="0" y="471506"/>
                    <a:pt x="0" y="418986"/>
                  </a:cubicBezTo>
                  <a:lnTo>
                    <a:pt x="0" y="95096"/>
                  </a:lnTo>
                  <a:cubicBezTo>
                    <a:pt x="0" y="42576"/>
                    <a:pt x="42576" y="0"/>
                    <a:pt x="9509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gradFill>
                <a:gsLst>
                  <a:gs pos="0">
                    <a:srgbClr val="0039E6">
                      <a:alpha val="100000"/>
                    </a:srgbClr>
                  </a:gs>
                  <a:gs pos="100000">
                    <a:srgbClr val="3CFFE2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prstDash val="solid"/>
              <a:round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66675"/>
              <a:ext cx="1093530" cy="5807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1902609" y="6000246"/>
            <a:ext cx="4151998" cy="1951904"/>
            <a:chOff x="0" y="0"/>
            <a:chExt cx="1093530" cy="51408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93530" cy="514082"/>
            </a:xfrm>
            <a:custGeom>
              <a:avLst/>
              <a:gdLst/>
              <a:ahLst/>
              <a:cxnLst/>
              <a:rect r="r" b="b" t="t" l="l"/>
              <a:pathLst>
                <a:path h="514082" w="1093530">
                  <a:moveTo>
                    <a:pt x="95096" y="0"/>
                  </a:moveTo>
                  <a:lnTo>
                    <a:pt x="998435" y="0"/>
                  </a:lnTo>
                  <a:cubicBezTo>
                    <a:pt x="1023655" y="0"/>
                    <a:pt x="1047844" y="10019"/>
                    <a:pt x="1065677" y="27853"/>
                  </a:cubicBezTo>
                  <a:cubicBezTo>
                    <a:pt x="1083511" y="45687"/>
                    <a:pt x="1093530" y="69875"/>
                    <a:pt x="1093530" y="95096"/>
                  </a:cubicBezTo>
                  <a:lnTo>
                    <a:pt x="1093530" y="418986"/>
                  </a:lnTo>
                  <a:cubicBezTo>
                    <a:pt x="1093530" y="471506"/>
                    <a:pt x="1050954" y="514082"/>
                    <a:pt x="998435" y="514082"/>
                  </a:cubicBezTo>
                  <a:lnTo>
                    <a:pt x="95096" y="514082"/>
                  </a:lnTo>
                  <a:cubicBezTo>
                    <a:pt x="42576" y="514082"/>
                    <a:pt x="0" y="471506"/>
                    <a:pt x="0" y="418986"/>
                  </a:cubicBezTo>
                  <a:lnTo>
                    <a:pt x="0" y="95096"/>
                  </a:lnTo>
                  <a:cubicBezTo>
                    <a:pt x="0" y="42576"/>
                    <a:pt x="42576" y="0"/>
                    <a:pt x="9509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gradFill>
                <a:gsLst>
                  <a:gs pos="0">
                    <a:srgbClr val="0039E6">
                      <a:alpha val="100000"/>
                    </a:srgbClr>
                  </a:gs>
                  <a:gs pos="100000">
                    <a:srgbClr val="3CFFE2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prstDash val="solid"/>
              <a:round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66675"/>
              <a:ext cx="1093530" cy="5807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1557999" y="828992"/>
            <a:ext cx="2916319" cy="34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Software Engineering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144000" y="965066"/>
            <a:ext cx="1662550" cy="409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151"/>
              </a:lnSpc>
              <a:spcBef>
                <a:spcPct val="0"/>
              </a:spcBef>
            </a:pPr>
            <a:r>
              <a:rPr lang="en-US" sz="22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1408122" y="967280"/>
            <a:ext cx="1907082" cy="409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51"/>
              </a:lnSpc>
              <a:spcBef>
                <a:spcPct val="0"/>
              </a:spcBef>
            </a:pPr>
            <a:r>
              <a:rPr lang="en-US" sz="22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3726729" y="943100"/>
            <a:ext cx="1916881" cy="409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51"/>
              </a:lnSpc>
              <a:spcBef>
                <a:spcPct val="0"/>
              </a:spcBef>
            </a:pPr>
            <a:r>
              <a:rPr lang="en-US" b="true" sz="225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Content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5034325" y="965066"/>
            <a:ext cx="2224975" cy="409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151"/>
              </a:lnSpc>
              <a:spcBef>
                <a:spcPct val="0"/>
              </a:spcBef>
            </a:pPr>
            <a:r>
              <a:rPr lang="en-US" sz="22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Others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4186061" y="2196263"/>
            <a:ext cx="9540668" cy="2471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45"/>
              </a:lnSpc>
            </a:pPr>
            <a:r>
              <a:rPr lang="en-US" b="true" sz="7871">
                <a:solidFill>
                  <a:srgbClr val="65FFE8"/>
                </a:solidFill>
                <a:latin typeface="Poppins Bold"/>
                <a:ea typeface="Poppins Bold"/>
                <a:cs typeface="Poppins Bold"/>
                <a:sym typeface="Poppins Bold"/>
              </a:rPr>
              <a:t>PROJECT OVERVIEW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2608106" y="6045694"/>
            <a:ext cx="3402572" cy="2009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1"/>
              </a:lnSpc>
            </a:pPr>
            <a:r>
              <a:rPr lang="en-US" sz="2251">
                <a:solidFill>
                  <a:srgbClr val="3562AF"/>
                </a:solidFill>
                <a:latin typeface="Poppins"/>
                <a:ea typeface="Poppins"/>
                <a:cs typeface="Poppins"/>
                <a:sym typeface="Poppins"/>
              </a:rPr>
              <a:t>Route planning, Turn-by-turn directions, Multiple transport modes, Geocoding</a:t>
            </a:r>
          </a:p>
          <a:p>
            <a:pPr algn="ctr" marL="0" indent="0" lvl="0">
              <a:lnSpc>
                <a:spcPts val="3151"/>
              </a:lnSpc>
              <a:spcBef>
                <a:spcPct val="0"/>
              </a:spcBef>
            </a:pPr>
          </a:p>
        </p:txBody>
      </p:sp>
      <p:sp>
        <p:nvSpPr>
          <p:cNvPr name="TextBox 38" id="38"/>
          <p:cNvSpPr txBox="true"/>
          <p:nvPr/>
        </p:nvSpPr>
        <p:spPr>
          <a:xfrm rot="0">
            <a:off x="7442714" y="6338041"/>
            <a:ext cx="3402572" cy="1209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486066" indent="-243033" lvl="1">
              <a:lnSpc>
                <a:spcPts val="3151"/>
              </a:lnSpc>
              <a:buFont typeface="Arial"/>
              <a:buChar char="•"/>
            </a:pPr>
            <a:r>
              <a:rPr lang="en-US" sz="2251">
                <a:solidFill>
                  <a:srgbClr val="3562AF"/>
                </a:solidFill>
                <a:latin typeface="Poppins"/>
                <a:ea typeface="Poppins"/>
                <a:cs typeface="Poppins"/>
                <a:sym typeface="Poppins"/>
              </a:rPr>
              <a:t>Python CLI &amp; Web Application</a:t>
            </a:r>
          </a:p>
          <a:p>
            <a:pPr algn="ctr" marL="0" indent="0" lvl="0">
              <a:lnSpc>
                <a:spcPts val="3151"/>
              </a:lnSpc>
              <a:spcBef>
                <a:spcPct val="0"/>
              </a:spcBef>
            </a:pPr>
          </a:p>
        </p:txBody>
      </p:sp>
      <p:sp>
        <p:nvSpPr>
          <p:cNvPr name="TextBox 39" id="39"/>
          <p:cNvSpPr txBox="true"/>
          <p:nvPr/>
        </p:nvSpPr>
        <p:spPr>
          <a:xfrm rot="0">
            <a:off x="12561370" y="6338041"/>
            <a:ext cx="2834476" cy="409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51"/>
              </a:lnSpc>
              <a:spcBef>
                <a:spcPct val="0"/>
              </a:spcBef>
            </a:pPr>
            <a:r>
              <a:rPr lang="en-US" sz="2251">
                <a:solidFill>
                  <a:srgbClr val="3562AF"/>
                </a:solidFill>
                <a:latin typeface="Poppins"/>
                <a:ea typeface="Poppins"/>
                <a:cs typeface="Poppins"/>
                <a:sym typeface="Poppins"/>
              </a:rPr>
              <a:t>GraphHopper API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2350274" y="5488478"/>
            <a:ext cx="3918236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b="true" sz="21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BRIEF DESCRIPTION 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7184882" y="5488478"/>
            <a:ext cx="3918236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b="true" sz="21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DUAL-INTERFACE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2019490" y="5488478"/>
            <a:ext cx="3918236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b="true" sz="21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POWERED BY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F0059">
                <a:alpha val="100000"/>
              </a:srgbClr>
            </a:gs>
            <a:gs pos="33333">
              <a:srgbClr val="00E8FF">
                <a:alpha val="100000"/>
              </a:srgbClr>
            </a:gs>
            <a:gs pos="66667">
              <a:srgbClr val="A600FF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52965" y="836497"/>
            <a:ext cx="384406" cy="384406"/>
          </a:xfrm>
          <a:custGeom>
            <a:avLst/>
            <a:gdLst/>
            <a:ahLst/>
            <a:cxnLst/>
            <a:rect r="r" b="b" t="t" l="l"/>
            <a:pathLst>
              <a:path h="384406" w="384406">
                <a:moveTo>
                  <a:pt x="0" y="0"/>
                </a:moveTo>
                <a:lnTo>
                  <a:pt x="384405" y="0"/>
                </a:lnTo>
                <a:lnTo>
                  <a:pt x="384405" y="384406"/>
                </a:lnTo>
                <a:lnTo>
                  <a:pt x="0" y="3844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851839" y="1711827"/>
            <a:ext cx="10350524" cy="7546473"/>
          </a:xfrm>
          <a:custGeom>
            <a:avLst/>
            <a:gdLst/>
            <a:ahLst/>
            <a:cxnLst/>
            <a:rect r="r" b="b" t="t" l="l"/>
            <a:pathLst>
              <a:path h="7546473" w="10350524">
                <a:moveTo>
                  <a:pt x="0" y="0"/>
                </a:moveTo>
                <a:lnTo>
                  <a:pt x="10350524" y="0"/>
                </a:lnTo>
                <a:lnTo>
                  <a:pt x="10350524" y="7546473"/>
                </a:lnTo>
                <a:lnTo>
                  <a:pt x="0" y="75464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557999" y="828992"/>
            <a:ext cx="2916319" cy="34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Software Engineering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144000" y="965066"/>
            <a:ext cx="1662550" cy="409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151"/>
              </a:lnSpc>
              <a:spcBef>
                <a:spcPct val="0"/>
              </a:spcBef>
            </a:pPr>
            <a:r>
              <a:rPr lang="en-US" sz="22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408122" y="967280"/>
            <a:ext cx="1907082" cy="409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51"/>
              </a:lnSpc>
              <a:spcBef>
                <a:spcPct val="0"/>
              </a:spcBef>
            </a:pPr>
            <a:r>
              <a:rPr lang="en-US" sz="22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726729" y="943100"/>
            <a:ext cx="1916881" cy="409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51"/>
              </a:lnSpc>
              <a:spcBef>
                <a:spcPct val="0"/>
              </a:spcBef>
            </a:pPr>
            <a:r>
              <a:rPr lang="en-US" b="true" sz="225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Content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034325" y="965066"/>
            <a:ext cx="2224975" cy="409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151"/>
              </a:lnSpc>
              <a:spcBef>
                <a:spcPct val="0"/>
              </a:spcBef>
            </a:pPr>
            <a:r>
              <a:rPr lang="en-US" sz="22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Others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459861" y="1982152"/>
            <a:ext cx="9710688" cy="110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79"/>
              </a:lnSpc>
            </a:pPr>
            <a:r>
              <a:rPr lang="en-US" sz="6815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FEATURES INCLUDED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144000" y="3184878"/>
            <a:ext cx="7944053" cy="4260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73972" indent="-286986" lvl="1">
              <a:lnSpc>
                <a:spcPts val="3721"/>
              </a:lnSpc>
              <a:buFont typeface="Arial"/>
              <a:buChar char="•"/>
            </a:pPr>
            <a:r>
              <a:rPr lang="en-US" sz="265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Support for multiple transportation modes (car, bike, foot, etc.)</a:t>
            </a:r>
          </a:p>
          <a:p>
            <a:pPr algn="just" marL="573972" indent="-286986" lvl="1">
              <a:lnSpc>
                <a:spcPts val="3721"/>
              </a:lnSpc>
              <a:buFont typeface="Arial"/>
              <a:buChar char="•"/>
            </a:pPr>
            <a:r>
              <a:rPr lang="en-US" sz="265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Turn-by-turn directions and route statistics</a:t>
            </a:r>
          </a:p>
          <a:p>
            <a:pPr algn="just" marL="573972" indent="-286986" lvl="1">
              <a:lnSpc>
                <a:spcPts val="3721"/>
              </a:lnSpc>
              <a:buFont typeface="Arial"/>
              <a:buChar char="•"/>
            </a:pPr>
            <a:r>
              <a:rPr lang="en-US" sz="265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Interactive web UI with live input</a:t>
            </a:r>
          </a:p>
          <a:p>
            <a:pPr algn="just" marL="573972" indent="-286986" lvl="1">
              <a:lnSpc>
                <a:spcPts val="3721"/>
              </a:lnSpc>
              <a:buFont typeface="Arial"/>
              <a:buChar char="•"/>
            </a:pPr>
            <a:r>
              <a:rPr lang="en-US" sz="265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Robust error handling and rate limit protection</a:t>
            </a:r>
          </a:p>
          <a:p>
            <a:pPr algn="just" marL="573972" indent="-286986" lvl="1">
              <a:lnSpc>
                <a:spcPts val="3721"/>
              </a:lnSpc>
              <a:buFont typeface="Arial"/>
              <a:buChar char="•"/>
            </a:pPr>
            <a:r>
              <a:rPr lang="en-US" sz="265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Advanced geocoding for city/state/POI details</a:t>
            </a:r>
          </a:p>
          <a:p>
            <a:pPr algn="just" marL="0" indent="0" lvl="0">
              <a:lnSpc>
                <a:spcPts val="3721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52965" y="836497"/>
            <a:ext cx="384406" cy="384406"/>
          </a:xfrm>
          <a:custGeom>
            <a:avLst/>
            <a:gdLst/>
            <a:ahLst/>
            <a:cxnLst/>
            <a:rect r="r" b="b" t="t" l="l"/>
            <a:pathLst>
              <a:path h="384406" w="384406">
                <a:moveTo>
                  <a:pt x="0" y="0"/>
                </a:moveTo>
                <a:lnTo>
                  <a:pt x="384405" y="0"/>
                </a:lnTo>
                <a:lnTo>
                  <a:pt x="384405" y="384406"/>
                </a:lnTo>
                <a:lnTo>
                  <a:pt x="0" y="3844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557999" y="828992"/>
            <a:ext cx="2916319" cy="34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Software Engineering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144000" y="965066"/>
            <a:ext cx="1662550" cy="409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151"/>
              </a:lnSpc>
              <a:spcBef>
                <a:spcPct val="0"/>
              </a:spcBef>
            </a:pPr>
            <a:r>
              <a:rPr lang="en-US" sz="22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408122" y="967280"/>
            <a:ext cx="1907082" cy="409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51"/>
              </a:lnSpc>
              <a:spcBef>
                <a:spcPct val="0"/>
              </a:spcBef>
            </a:pPr>
            <a:r>
              <a:rPr lang="en-US" sz="22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726729" y="943100"/>
            <a:ext cx="1916881" cy="409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51"/>
              </a:lnSpc>
              <a:spcBef>
                <a:spcPct val="0"/>
              </a:spcBef>
            </a:pPr>
            <a:r>
              <a:rPr lang="en-US" b="true" sz="225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Content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034325" y="965066"/>
            <a:ext cx="2224975" cy="409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151"/>
              </a:lnSpc>
              <a:spcBef>
                <a:spcPct val="0"/>
              </a:spcBef>
            </a:pPr>
            <a:r>
              <a:rPr lang="en-US" sz="22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Others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45168" y="5654609"/>
            <a:ext cx="9540668" cy="2457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45"/>
              </a:lnSpc>
            </a:pPr>
            <a:r>
              <a:rPr lang="en-US" sz="7871" b="true">
                <a:solidFill>
                  <a:srgbClr val="65FFE8"/>
                </a:solidFill>
                <a:latin typeface="Poppins Bold"/>
                <a:ea typeface="Poppins Bold"/>
                <a:cs typeface="Poppins Bold"/>
                <a:sym typeface="Poppins Bold"/>
              </a:rPr>
              <a:t>WHY THESE FEATURES?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325120" y="1926616"/>
            <a:ext cx="7980170" cy="2643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2521" indent="-266260" lvl="1">
              <a:lnSpc>
                <a:spcPts val="3453"/>
              </a:lnSpc>
              <a:buFont typeface="Arial"/>
              <a:buChar char="•"/>
            </a:pPr>
            <a:r>
              <a:rPr lang="en-US" sz="246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Improve usability for general users</a:t>
            </a:r>
          </a:p>
          <a:p>
            <a:pPr algn="just" marL="532521" indent="-266260" lvl="1">
              <a:lnSpc>
                <a:spcPts val="3453"/>
              </a:lnSpc>
              <a:buFont typeface="Arial"/>
              <a:buChar char="•"/>
            </a:pPr>
            <a:r>
              <a:rPr lang="en-US" sz="246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Increase flexibility for various navigation needs</a:t>
            </a:r>
          </a:p>
          <a:p>
            <a:pPr algn="just" marL="532521" indent="-266260" lvl="1">
              <a:lnSpc>
                <a:spcPts val="3453"/>
              </a:lnSpc>
              <a:buFont typeface="Arial"/>
              <a:buChar char="•"/>
            </a:pPr>
            <a:r>
              <a:rPr lang="en-US" sz="246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Bridge web and CLI user preferences</a:t>
            </a:r>
          </a:p>
          <a:p>
            <a:pPr algn="just" marL="532521" indent="-266260" lvl="1">
              <a:lnSpc>
                <a:spcPts val="3453"/>
              </a:lnSpc>
              <a:buFont typeface="Arial"/>
              <a:buChar char="•"/>
            </a:pPr>
            <a:r>
              <a:rPr lang="en-US" sz="246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Enhance educational value and technical scope for team members</a:t>
            </a:r>
          </a:p>
          <a:p>
            <a:pPr algn="just" marL="0" indent="0" lvl="0">
              <a:lnSpc>
                <a:spcPts val="3453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33333">
              <a:srgbClr val="50004A">
                <a:alpha val="100000"/>
              </a:srgbClr>
            </a:gs>
            <a:gs pos="66667">
              <a:srgbClr val="31B4CB">
                <a:alpha val="100000"/>
              </a:srgbClr>
            </a:gs>
            <a:gs pos="100000">
              <a:srgbClr val="0F0059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52965" y="836497"/>
            <a:ext cx="384406" cy="384406"/>
          </a:xfrm>
          <a:custGeom>
            <a:avLst/>
            <a:gdLst/>
            <a:ahLst/>
            <a:cxnLst/>
            <a:rect r="r" b="b" t="t" l="l"/>
            <a:pathLst>
              <a:path h="384406" w="384406">
                <a:moveTo>
                  <a:pt x="0" y="0"/>
                </a:moveTo>
                <a:lnTo>
                  <a:pt x="384405" y="0"/>
                </a:lnTo>
                <a:lnTo>
                  <a:pt x="384405" y="384406"/>
                </a:lnTo>
                <a:lnTo>
                  <a:pt x="0" y="3844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685170" y="-4486779"/>
            <a:ext cx="9639356" cy="8229600"/>
          </a:xfrm>
          <a:custGeom>
            <a:avLst/>
            <a:gdLst/>
            <a:ahLst/>
            <a:cxnLst/>
            <a:rect r="r" b="b" t="t" l="l"/>
            <a:pathLst>
              <a:path h="8229600" w="9639356">
                <a:moveTo>
                  <a:pt x="0" y="0"/>
                </a:moveTo>
                <a:lnTo>
                  <a:pt x="9639356" y="0"/>
                </a:lnTo>
                <a:lnTo>
                  <a:pt x="9639356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557999" y="2742696"/>
            <a:ext cx="9540668" cy="1933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05"/>
              </a:lnSpc>
            </a:pPr>
            <a:r>
              <a:rPr lang="en-US" sz="6171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IMPLEMENTATION PROCEDURE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8972550" y="1893165"/>
            <a:ext cx="7795649" cy="4322016"/>
            <a:chOff x="0" y="0"/>
            <a:chExt cx="1678104" cy="93036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78104" cy="930364"/>
            </a:xfrm>
            <a:custGeom>
              <a:avLst/>
              <a:gdLst/>
              <a:ahLst/>
              <a:cxnLst/>
              <a:rect r="r" b="b" t="t" l="l"/>
              <a:pathLst>
                <a:path h="930364" w="1678104">
                  <a:moveTo>
                    <a:pt x="39724" y="0"/>
                  </a:moveTo>
                  <a:lnTo>
                    <a:pt x="1638380" y="0"/>
                  </a:lnTo>
                  <a:cubicBezTo>
                    <a:pt x="1660319" y="0"/>
                    <a:pt x="1678104" y="17785"/>
                    <a:pt x="1678104" y="39724"/>
                  </a:cubicBezTo>
                  <a:lnTo>
                    <a:pt x="1678104" y="890640"/>
                  </a:lnTo>
                  <a:cubicBezTo>
                    <a:pt x="1678104" y="912579"/>
                    <a:pt x="1660319" y="930364"/>
                    <a:pt x="1638380" y="930364"/>
                  </a:cubicBezTo>
                  <a:lnTo>
                    <a:pt x="39724" y="930364"/>
                  </a:lnTo>
                  <a:cubicBezTo>
                    <a:pt x="29189" y="930364"/>
                    <a:pt x="19085" y="926179"/>
                    <a:pt x="11635" y="918729"/>
                  </a:cubicBezTo>
                  <a:cubicBezTo>
                    <a:pt x="4185" y="911279"/>
                    <a:pt x="0" y="901175"/>
                    <a:pt x="0" y="890640"/>
                  </a:cubicBezTo>
                  <a:lnTo>
                    <a:pt x="0" y="39724"/>
                  </a:lnTo>
                  <a:cubicBezTo>
                    <a:pt x="0" y="29189"/>
                    <a:pt x="4185" y="19085"/>
                    <a:pt x="11635" y="11635"/>
                  </a:cubicBezTo>
                  <a:cubicBezTo>
                    <a:pt x="19085" y="4185"/>
                    <a:pt x="29189" y="0"/>
                    <a:pt x="39724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10010" r="0" b="-10010"/>
              </a:stretch>
            </a:blipFill>
            <a:ln w="209550" cap="rnd">
              <a:gradFill>
                <a:gsLst>
                  <a:gs pos="0">
                    <a:srgbClr val="0039E6">
                      <a:alpha val="100000"/>
                    </a:srgbClr>
                  </a:gs>
                  <a:gs pos="100000">
                    <a:srgbClr val="3CFFE2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prstDash val="solid"/>
              <a:round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557999" y="5143500"/>
            <a:ext cx="6603038" cy="3338270"/>
            <a:chOff x="0" y="0"/>
            <a:chExt cx="1421381" cy="71860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21380" cy="718601"/>
            </a:xfrm>
            <a:custGeom>
              <a:avLst/>
              <a:gdLst/>
              <a:ahLst/>
              <a:cxnLst/>
              <a:rect r="r" b="b" t="t" l="l"/>
              <a:pathLst>
                <a:path h="718601" w="1421380">
                  <a:moveTo>
                    <a:pt x="46899" y="0"/>
                  </a:moveTo>
                  <a:lnTo>
                    <a:pt x="1374481" y="0"/>
                  </a:lnTo>
                  <a:cubicBezTo>
                    <a:pt x="1400383" y="0"/>
                    <a:pt x="1421380" y="20997"/>
                    <a:pt x="1421380" y="46899"/>
                  </a:cubicBezTo>
                  <a:lnTo>
                    <a:pt x="1421380" y="671702"/>
                  </a:lnTo>
                  <a:cubicBezTo>
                    <a:pt x="1421380" y="684141"/>
                    <a:pt x="1416439" y="696070"/>
                    <a:pt x="1407644" y="704865"/>
                  </a:cubicBezTo>
                  <a:cubicBezTo>
                    <a:pt x="1398849" y="713660"/>
                    <a:pt x="1386920" y="718601"/>
                    <a:pt x="1374481" y="718601"/>
                  </a:cubicBezTo>
                  <a:lnTo>
                    <a:pt x="46899" y="718601"/>
                  </a:lnTo>
                  <a:cubicBezTo>
                    <a:pt x="34461" y="718601"/>
                    <a:pt x="22532" y="713660"/>
                    <a:pt x="13736" y="704865"/>
                  </a:cubicBezTo>
                  <a:cubicBezTo>
                    <a:pt x="4941" y="696070"/>
                    <a:pt x="0" y="684141"/>
                    <a:pt x="0" y="671702"/>
                  </a:cubicBezTo>
                  <a:lnTo>
                    <a:pt x="0" y="46899"/>
                  </a:lnTo>
                  <a:cubicBezTo>
                    <a:pt x="0" y="34461"/>
                    <a:pt x="4941" y="22532"/>
                    <a:pt x="13736" y="13736"/>
                  </a:cubicBezTo>
                  <a:cubicBezTo>
                    <a:pt x="22532" y="4941"/>
                    <a:pt x="34461" y="0"/>
                    <a:pt x="46899" y="0"/>
                  </a:cubicBezTo>
                  <a:close/>
                </a:path>
              </a:pathLst>
            </a:custGeom>
            <a:blipFill>
              <a:blip r:embed="rId6"/>
              <a:stretch>
                <a:fillRect l="0" t="-5630" r="0" b="-5630"/>
              </a:stretch>
            </a:blipFill>
            <a:ln w="209550" cap="rnd">
              <a:gradFill>
                <a:gsLst>
                  <a:gs pos="0">
                    <a:srgbClr val="0039E6">
                      <a:alpha val="100000"/>
                    </a:srgbClr>
                  </a:gs>
                  <a:gs pos="100000">
                    <a:srgbClr val="3CFFE2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prstDash val="solid"/>
              <a:round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1557999" y="828992"/>
            <a:ext cx="2916319" cy="34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Software Engineering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144000" y="965066"/>
            <a:ext cx="1662550" cy="409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151"/>
              </a:lnSpc>
              <a:spcBef>
                <a:spcPct val="0"/>
              </a:spcBef>
            </a:pPr>
            <a:r>
              <a:rPr lang="en-US" sz="22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408122" y="967280"/>
            <a:ext cx="1907082" cy="409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51"/>
              </a:lnSpc>
              <a:spcBef>
                <a:spcPct val="0"/>
              </a:spcBef>
            </a:pPr>
            <a:r>
              <a:rPr lang="en-US" sz="22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726729" y="943100"/>
            <a:ext cx="1916881" cy="409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51"/>
              </a:lnSpc>
              <a:spcBef>
                <a:spcPct val="0"/>
              </a:spcBef>
            </a:pPr>
            <a:r>
              <a:rPr lang="en-US" b="true" sz="225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Content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034325" y="965066"/>
            <a:ext cx="2224975" cy="409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151"/>
              </a:lnSpc>
              <a:spcBef>
                <a:spcPct val="0"/>
              </a:spcBef>
            </a:pPr>
            <a:r>
              <a:rPr lang="en-US" sz="22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Others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622750" y="6403198"/>
            <a:ext cx="8636550" cy="3209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86066" indent="-243033" lvl="1">
              <a:lnSpc>
                <a:spcPts val="3151"/>
              </a:lnSpc>
              <a:buFont typeface="Arial"/>
              <a:buChar char="•"/>
            </a:pPr>
            <a:r>
              <a:rPr lang="en-US" sz="22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Set up project environment and repository</a:t>
            </a:r>
          </a:p>
          <a:p>
            <a:pPr algn="just" marL="486066" indent="-243033" lvl="1">
              <a:lnSpc>
                <a:spcPts val="3151"/>
              </a:lnSpc>
              <a:buFont typeface="Arial"/>
              <a:buChar char="•"/>
            </a:pPr>
            <a:r>
              <a:rPr lang="en-US" sz="22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Integrated GraphHopper API into Python &amp; Node.js backends</a:t>
            </a:r>
          </a:p>
          <a:p>
            <a:pPr algn="just" marL="486066" indent="-243033" lvl="1">
              <a:lnSpc>
                <a:spcPts val="3151"/>
              </a:lnSpc>
              <a:buFont typeface="Arial"/>
              <a:buChar char="•"/>
            </a:pPr>
            <a:r>
              <a:rPr lang="en-US" sz="22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Designed modular Python package (RouteCalculator)</a:t>
            </a:r>
          </a:p>
          <a:p>
            <a:pPr algn="just" marL="486066" indent="-243033" lvl="1">
              <a:lnSpc>
                <a:spcPts val="3151"/>
              </a:lnSpc>
              <a:buFont typeface="Arial"/>
              <a:buChar char="•"/>
            </a:pPr>
            <a:r>
              <a:rPr lang="en-US" sz="22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Developed a responsive frontend with EJS + CSS + JavaScript</a:t>
            </a:r>
          </a:p>
          <a:p>
            <a:pPr algn="just" marL="486066" indent="-243033" lvl="1">
              <a:lnSpc>
                <a:spcPts val="3151"/>
              </a:lnSpc>
              <a:buFont typeface="Arial"/>
              <a:buChar char="•"/>
            </a:pPr>
            <a:r>
              <a:rPr lang="en-US" sz="22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Connected frontend to backend with REST endpoints</a:t>
            </a:r>
          </a:p>
          <a:p>
            <a:pPr algn="just" marL="0" indent="0" lvl="0">
              <a:lnSpc>
                <a:spcPts val="3151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50004A">
                <a:alpha val="100000"/>
              </a:srgbClr>
            </a:gs>
            <a:gs pos="33333">
              <a:srgbClr val="31B4CB">
                <a:alpha val="100000"/>
              </a:srgbClr>
            </a:gs>
            <a:gs pos="66667">
              <a:srgbClr val="000000">
                <a:alpha val="100000"/>
              </a:srgbClr>
            </a:gs>
            <a:gs pos="100000">
              <a:srgbClr val="0F0059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52965" y="836497"/>
            <a:ext cx="384406" cy="384406"/>
          </a:xfrm>
          <a:custGeom>
            <a:avLst/>
            <a:gdLst/>
            <a:ahLst/>
            <a:cxnLst/>
            <a:rect r="r" b="b" t="t" l="l"/>
            <a:pathLst>
              <a:path h="384406" w="384406">
                <a:moveTo>
                  <a:pt x="0" y="0"/>
                </a:moveTo>
                <a:lnTo>
                  <a:pt x="384405" y="0"/>
                </a:lnTo>
                <a:lnTo>
                  <a:pt x="384405" y="384406"/>
                </a:lnTo>
                <a:lnTo>
                  <a:pt x="0" y="3844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514350" y="7927217"/>
            <a:ext cx="14241079" cy="995920"/>
            <a:chOff x="0" y="0"/>
            <a:chExt cx="3750737" cy="2623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750737" cy="262300"/>
            </a:xfrm>
            <a:custGeom>
              <a:avLst/>
              <a:gdLst/>
              <a:ahLst/>
              <a:cxnLst/>
              <a:rect r="r" b="b" t="t" l="l"/>
              <a:pathLst>
                <a:path h="262300" w="3750737">
                  <a:moveTo>
                    <a:pt x="18484" y="0"/>
                  </a:moveTo>
                  <a:lnTo>
                    <a:pt x="3732254" y="0"/>
                  </a:lnTo>
                  <a:cubicBezTo>
                    <a:pt x="3742461" y="0"/>
                    <a:pt x="3750737" y="8275"/>
                    <a:pt x="3750737" y="18484"/>
                  </a:cubicBezTo>
                  <a:lnTo>
                    <a:pt x="3750737" y="243817"/>
                  </a:lnTo>
                  <a:cubicBezTo>
                    <a:pt x="3750737" y="248719"/>
                    <a:pt x="3748790" y="253420"/>
                    <a:pt x="3745323" y="256886"/>
                  </a:cubicBezTo>
                  <a:cubicBezTo>
                    <a:pt x="3741857" y="260353"/>
                    <a:pt x="3737156" y="262300"/>
                    <a:pt x="3732254" y="262300"/>
                  </a:cubicBezTo>
                  <a:lnTo>
                    <a:pt x="18484" y="262300"/>
                  </a:lnTo>
                  <a:cubicBezTo>
                    <a:pt x="8275" y="262300"/>
                    <a:pt x="0" y="254025"/>
                    <a:pt x="0" y="243817"/>
                  </a:cubicBezTo>
                  <a:lnTo>
                    <a:pt x="0" y="18484"/>
                  </a:lnTo>
                  <a:cubicBezTo>
                    <a:pt x="0" y="8275"/>
                    <a:pt x="8275" y="0"/>
                    <a:pt x="1848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39E6">
                    <a:alpha val="100000"/>
                  </a:srgbClr>
                </a:gs>
                <a:gs pos="100000">
                  <a:srgbClr val="3CFFE2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3750737" cy="32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706711" y="2547926"/>
            <a:ext cx="6901419" cy="4322016"/>
            <a:chOff x="0" y="0"/>
            <a:chExt cx="1485610" cy="9303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85610" cy="930364"/>
            </a:xfrm>
            <a:custGeom>
              <a:avLst/>
              <a:gdLst/>
              <a:ahLst/>
              <a:cxnLst/>
              <a:rect r="r" b="b" t="t" l="l"/>
              <a:pathLst>
                <a:path h="930364" w="1485610">
                  <a:moveTo>
                    <a:pt x="44871" y="0"/>
                  </a:moveTo>
                  <a:lnTo>
                    <a:pt x="1440739" y="0"/>
                  </a:lnTo>
                  <a:cubicBezTo>
                    <a:pt x="1465521" y="0"/>
                    <a:pt x="1485610" y="20090"/>
                    <a:pt x="1485610" y="44871"/>
                  </a:cubicBezTo>
                  <a:lnTo>
                    <a:pt x="1485610" y="885492"/>
                  </a:lnTo>
                  <a:cubicBezTo>
                    <a:pt x="1485610" y="910274"/>
                    <a:pt x="1465521" y="930364"/>
                    <a:pt x="1440739" y="930364"/>
                  </a:cubicBezTo>
                  <a:lnTo>
                    <a:pt x="44871" y="930364"/>
                  </a:lnTo>
                  <a:cubicBezTo>
                    <a:pt x="20090" y="930364"/>
                    <a:pt x="0" y="910274"/>
                    <a:pt x="0" y="885492"/>
                  </a:cubicBezTo>
                  <a:lnTo>
                    <a:pt x="0" y="44871"/>
                  </a:lnTo>
                  <a:cubicBezTo>
                    <a:pt x="0" y="20090"/>
                    <a:pt x="20090" y="0"/>
                    <a:pt x="44871" y="0"/>
                  </a:cubicBezTo>
                  <a:close/>
                </a:path>
              </a:pathLst>
            </a:custGeom>
            <a:blipFill>
              <a:blip r:embed="rId4"/>
              <a:stretch>
                <a:fillRect l="-1649" t="0" r="-1649" b="0"/>
              </a:stretch>
            </a:blipFill>
            <a:ln w="209550" cap="rnd">
              <a:gradFill>
                <a:gsLst>
                  <a:gs pos="0">
                    <a:srgbClr val="0039E6">
                      <a:alpha val="100000"/>
                    </a:srgbClr>
                  </a:gs>
                  <a:gs pos="100000">
                    <a:srgbClr val="3CFFE2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prstDash val="solid"/>
              <a:round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4999133" y="1582552"/>
            <a:ext cx="8727596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59"/>
              </a:lnSpc>
            </a:pPr>
            <a:r>
              <a:rPr lang="en-US" sz="4215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CODE SNIPPETS + COMMENTS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57999" y="828992"/>
            <a:ext cx="2916319" cy="34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SOftware Engineering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144000" y="965066"/>
            <a:ext cx="1662550" cy="409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151"/>
              </a:lnSpc>
              <a:spcBef>
                <a:spcPct val="0"/>
              </a:spcBef>
            </a:pPr>
            <a:r>
              <a:rPr lang="en-US" sz="22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408122" y="967280"/>
            <a:ext cx="1907082" cy="409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51"/>
              </a:lnSpc>
              <a:spcBef>
                <a:spcPct val="0"/>
              </a:spcBef>
            </a:pPr>
            <a:r>
              <a:rPr lang="en-US" sz="22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726729" y="943100"/>
            <a:ext cx="1916881" cy="409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51"/>
              </a:lnSpc>
              <a:spcBef>
                <a:spcPct val="0"/>
              </a:spcBef>
            </a:pPr>
            <a:r>
              <a:rPr lang="en-US" b="true" sz="225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Content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034325" y="965066"/>
            <a:ext cx="2224975" cy="409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151"/>
              </a:lnSpc>
              <a:spcBef>
                <a:spcPct val="0"/>
              </a:spcBef>
            </a:pPr>
            <a:r>
              <a:rPr lang="en-US" sz="22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Others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052965" y="2502658"/>
            <a:ext cx="7647878" cy="4412552"/>
            <a:chOff x="0" y="0"/>
            <a:chExt cx="1612516" cy="93036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612516" cy="930364"/>
            </a:xfrm>
            <a:custGeom>
              <a:avLst/>
              <a:gdLst/>
              <a:ahLst/>
              <a:cxnLst/>
              <a:rect r="r" b="b" t="t" l="l"/>
              <a:pathLst>
                <a:path h="930364" w="1612516">
                  <a:moveTo>
                    <a:pt x="40492" y="0"/>
                  </a:moveTo>
                  <a:lnTo>
                    <a:pt x="1572024" y="0"/>
                  </a:lnTo>
                  <a:cubicBezTo>
                    <a:pt x="1594387" y="0"/>
                    <a:pt x="1612516" y="18129"/>
                    <a:pt x="1612516" y="40492"/>
                  </a:cubicBezTo>
                  <a:lnTo>
                    <a:pt x="1612516" y="889872"/>
                  </a:lnTo>
                  <a:cubicBezTo>
                    <a:pt x="1612516" y="912235"/>
                    <a:pt x="1594387" y="930364"/>
                    <a:pt x="1572024" y="930364"/>
                  </a:cubicBezTo>
                  <a:lnTo>
                    <a:pt x="40492" y="930364"/>
                  </a:lnTo>
                  <a:cubicBezTo>
                    <a:pt x="18129" y="930364"/>
                    <a:pt x="0" y="912235"/>
                    <a:pt x="0" y="889872"/>
                  </a:cubicBezTo>
                  <a:lnTo>
                    <a:pt x="0" y="40492"/>
                  </a:lnTo>
                  <a:cubicBezTo>
                    <a:pt x="0" y="18129"/>
                    <a:pt x="18129" y="0"/>
                    <a:pt x="40492" y="0"/>
                  </a:cubicBezTo>
                  <a:close/>
                </a:path>
              </a:pathLst>
            </a:custGeom>
            <a:blipFill>
              <a:blip r:embed="rId5"/>
              <a:stretch>
                <a:fillRect l="-4867" t="0" r="-4867" b="0"/>
              </a:stretch>
            </a:blipFill>
            <a:ln w="209550" cap="rnd">
              <a:gradFill>
                <a:gsLst>
                  <a:gs pos="0">
                    <a:srgbClr val="0039E6">
                      <a:alpha val="100000"/>
                    </a:srgbClr>
                  </a:gs>
                  <a:gs pos="100000">
                    <a:srgbClr val="3CFFE2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prstDash val="solid"/>
              <a:round/>
            </a:ln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50004A">
                <a:alpha val="100000"/>
              </a:srgbClr>
            </a:gs>
            <a:gs pos="33333">
              <a:srgbClr val="31B4CB">
                <a:alpha val="100000"/>
              </a:srgbClr>
            </a:gs>
            <a:gs pos="66667">
              <a:srgbClr val="000000">
                <a:alpha val="100000"/>
              </a:srgbClr>
            </a:gs>
            <a:gs pos="100000">
              <a:srgbClr val="0F0059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52965" y="836497"/>
            <a:ext cx="384406" cy="384406"/>
          </a:xfrm>
          <a:custGeom>
            <a:avLst/>
            <a:gdLst/>
            <a:ahLst/>
            <a:cxnLst/>
            <a:rect r="r" b="b" t="t" l="l"/>
            <a:pathLst>
              <a:path h="384406" w="384406">
                <a:moveTo>
                  <a:pt x="0" y="0"/>
                </a:moveTo>
                <a:lnTo>
                  <a:pt x="384405" y="0"/>
                </a:lnTo>
                <a:lnTo>
                  <a:pt x="384405" y="384406"/>
                </a:lnTo>
                <a:lnTo>
                  <a:pt x="0" y="3844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685170" y="-4486779"/>
            <a:ext cx="9639356" cy="8229600"/>
          </a:xfrm>
          <a:custGeom>
            <a:avLst/>
            <a:gdLst/>
            <a:ahLst/>
            <a:cxnLst/>
            <a:rect r="r" b="b" t="t" l="l"/>
            <a:pathLst>
              <a:path h="8229600" w="9639356">
                <a:moveTo>
                  <a:pt x="0" y="0"/>
                </a:moveTo>
                <a:lnTo>
                  <a:pt x="9639356" y="0"/>
                </a:lnTo>
                <a:lnTo>
                  <a:pt x="9639356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1028700" y="4102492"/>
          <a:ext cx="16230600" cy="5071821"/>
        </p:xfrm>
        <a:graphic>
          <a:graphicData uri="http://schemas.openxmlformats.org/drawingml/2006/table">
            <a:tbl>
              <a:tblPr/>
              <a:tblGrid>
                <a:gridCol w="4097456"/>
                <a:gridCol w="12133144"/>
              </a:tblGrid>
              <a:tr h="153553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 b="true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Khursanov Nazarbek</a:t>
                      </a:r>
                      <a:endParaRPr lang="en-US" sz="1100"/>
                    </a:p>
                    <a:p>
                      <a:pPr algn="ctr">
                        <a:lnSpc>
                          <a:spcPts val="3639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 b="true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Developer – Python, REST APIs, GitHub, Documentation, PPT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070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 b="true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Shabonov Abdulloh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699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Python, REST APIs, GitHub, Documentation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070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 b="true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Kerimeliev ELdar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Developer – Python, REST APIs, GitHub, Documentation, PPT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7487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Akylova Adinai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Developer – Python, REST APIs, GitHub, Documentation, PPT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5" id="5"/>
          <p:cNvSpPr txBox="true"/>
          <p:nvPr/>
        </p:nvSpPr>
        <p:spPr>
          <a:xfrm rot="0">
            <a:off x="1557999" y="828992"/>
            <a:ext cx="2916319" cy="34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Software Engineering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144000" y="965066"/>
            <a:ext cx="1662550" cy="409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151"/>
              </a:lnSpc>
              <a:spcBef>
                <a:spcPct val="0"/>
              </a:spcBef>
            </a:pPr>
            <a:r>
              <a:rPr lang="en-US" sz="22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408122" y="967280"/>
            <a:ext cx="1907082" cy="409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51"/>
              </a:lnSpc>
              <a:spcBef>
                <a:spcPct val="0"/>
              </a:spcBef>
            </a:pPr>
            <a:r>
              <a:rPr lang="en-US" sz="22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726729" y="943100"/>
            <a:ext cx="1916881" cy="409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51"/>
              </a:lnSpc>
              <a:spcBef>
                <a:spcPct val="0"/>
              </a:spcBef>
            </a:pPr>
            <a:r>
              <a:rPr lang="en-US" b="true" sz="225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Content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034325" y="965066"/>
            <a:ext cx="2224975" cy="409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151"/>
              </a:lnSpc>
              <a:spcBef>
                <a:spcPct val="0"/>
              </a:spcBef>
            </a:pPr>
            <a:r>
              <a:rPr lang="en-US" sz="22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Others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186061" y="1631241"/>
            <a:ext cx="9540668" cy="2471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45"/>
              </a:lnSpc>
            </a:pPr>
            <a:r>
              <a:rPr lang="en-US" b="true" sz="7871">
                <a:solidFill>
                  <a:srgbClr val="65FFE8"/>
                </a:solidFill>
                <a:latin typeface="Poppins Bold"/>
                <a:ea typeface="Poppins Bold"/>
                <a:cs typeface="Poppins Bold"/>
                <a:sym typeface="Poppins Bold"/>
              </a:rPr>
              <a:t>TEAM CONTRIBUTIONS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50004A">
                <a:alpha val="100000"/>
              </a:srgbClr>
            </a:gs>
            <a:gs pos="33333">
              <a:srgbClr val="31B4CB">
                <a:alpha val="100000"/>
              </a:srgbClr>
            </a:gs>
            <a:gs pos="66667">
              <a:srgbClr val="000000">
                <a:alpha val="100000"/>
              </a:srgbClr>
            </a:gs>
            <a:gs pos="100000">
              <a:srgbClr val="0F0059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52965" y="836497"/>
            <a:ext cx="384406" cy="384406"/>
          </a:xfrm>
          <a:custGeom>
            <a:avLst/>
            <a:gdLst/>
            <a:ahLst/>
            <a:cxnLst/>
            <a:rect r="r" b="b" t="t" l="l"/>
            <a:pathLst>
              <a:path h="384406" w="384406">
                <a:moveTo>
                  <a:pt x="0" y="0"/>
                </a:moveTo>
                <a:lnTo>
                  <a:pt x="384405" y="0"/>
                </a:lnTo>
                <a:lnTo>
                  <a:pt x="384405" y="384406"/>
                </a:lnTo>
                <a:lnTo>
                  <a:pt x="0" y="3844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514350" y="7927217"/>
            <a:ext cx="14241079" cy="995920"/>
            <a:chOff x="0" y="0"/>
            <a:chExt cx="3750737" cy="2623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750737" cy="262300"/>
            </a:xfrm>
            <a:custGeom>
              <a:avLst/>
              <a:gdLst/>
              <a:ahLst/>
              <a:cxnLst/>
              <a:rect r="r" b="b" t="t" l="l"/>
              <a:pathLst>
                <a:path h="262300" w="3750737">
                  <a:moveTo>
                    <a:pt x="18484" y="0"/>
                  </a:moveTo>
                  <a:lnTo>
                    <a:pt x="3732254" y="0"/>
                  </a:lnTo>
                  <a:cubicBezTo>
                    <a:pt x="3742461" y="0"/>
                    <a:pt x="3750737" y="8275"/>
                    <a:pt x="3750737" y="18484"/>
                  </a:cubicBezTo>
                  <a:lnTo>
                    <a:pt x="3750737" y="243817"/>
                  </a:lnTo>
                  <a:cubicBezTo>
                    <a:pt x="3750737" y="248719"/>
                    <a:pt x="3748790" y="253420"/>
                    <a:pt x="3745323" y="256886"/>
                  </a:cubicBezTo>
                  <a:cubicBezTo>
                    <a:pt x="3741857" y="260353"/>
                    <a:pt x="3737156" y="262300"/>
                    <a:pt x="3732254" y="262300"/>
                  </a:cubicBezTo>
                  <a:lnTo>
                    <a:pt x="18484" y="262300"/>
                  </a:lnTo>
                  <a:cubicBezTo>
                    <a:pt x="8275" y="262300"/>
                    <a:pt x="0" y="254025"/>
                    <a:pt x="0" y="243817"/>
                  </a:cubicBezTo>
                  <a:lnTo>
                    <a:pt x="0" y="18484"/>
                  </a:lnTo>
                  <a:cubicBezTo>
                    <a:pt x="0" y="8275"/>
                    <a:pt x="8275" y="0"/>
                    <a:pt x="1848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39E6">
                    <a:alpha val="100000"/>
                  </a:srgbClr>
                </a:gs>
                <a:gs pos="100000">
                  <a:srgbClr val="3CFFE2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3750737" cy="32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706711" y="2547926"/>
            <a:ext cx="6901419" cy="4322016"/>
            <a:chOff x="0" y="0"/>
            <a:chExt cx="1485610" cy="9303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85610" cy="930364"/>
            </a:xfrm>
            <a:custGeom>
              <a:avLst/>
              <a:gdLst/>
              <a:ahLst/>
              <a:cxnLst/>
              <a:rect r="r" b="b" t="t" l="l"/>
              <a:pathLst>
                <a:path h="930364" w="1485610">
                  <a:moveTo>
                    <a:pt x="44871" y="0"/>
                  </a:moveTo>
                  <a:lnTo>
                    <a:pt x="1440739" y="0"/>
                  </a:lnTo>
                  <a:cubicBezTo>
                    <a:pt x="1465521" y="0"/>
                    <a:pt x="1485610" y="20090"/>
                    <a:pt x="1485610" y="44871"/>
                  </a:cubicBezTo>
                  <a:lnTo>
                    <a:pt x="1485610" y="885492"/>
                  </a:lnTo>
                  <a:cubicBezTo>
                    <a:pt x="1485610" y="910274"/>
                    <a:pt x="1465521" y="930364"/>
                    <a:pt x="1440739" y="930364"/>
                  </a:cubicBezTo>
                  <a:lnTo>
                    <a:pt x="44871" y="930364"/>
                  </a:lnTo>
                  <a:cubicBezTo>
                    <a:pt x="20090" y="930364"/>
                    <a:pt x="0" y="910274"/>
                    <a:pt x="0" y="885492"/>
                  </a:cubicBezTo>
                  <a:lnTo>
                    <a:pt x="0" y="44871"/>
                  </a:lnTo>
                  <a:cubicBezTo>
                    <a:pt x="0" y="20090"/>
                    <a:pt x="20090" y="0"/>
                    <a:pt x="44871" y="0"/>
                  </a:cubicBezTo>
                  <a:close/>
                </a:path>
              </a:pathLst>
            </a:custGeom>
            <a:blipFill>
              <a:blip r:embed="rId4"/>
              <a:stretch>
                <a:fillRect l="-1649" t="0" r="-1649" b="0"/>
              </a:stretch>
            </a:blipFill>
            <a:ln w="209550" cap="rnd">
              <a:gradFill>
                <a:gsLst>
                  <a:gs pos="0">
                    <a:srgbClr val="0039E6">
                      <a:alpha val="100000"/>
                    </a:srgbClr>
                  </a:gs>
                  <a:gs pos="100000">
                    <a:srgbClr val="3CFFE2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prstDash val="solid"/>
              <a:round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4999133" y="1582552"/>
            <a:ext cx="8727596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59"/>
              </a:lnSpc>
            </a:pPr>
            <a:r>
              <a:rPr lang="en-US" sz="4215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CODE SNIPPETS + COMMENTS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57999" y="828992"/>
            <a:ext cx="2916319" cy="34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SOftware Engineering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144000" y="965066"/>
            <a:ext cx="1662550" cy="409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151"/>
              </a:lnSpc>
              <a:spcBef>
                <a:spcPct val="0"/>
              </a:spcBef>
            </a:pPr>
            <a:r>
              <a:rPr lang="en-US" sz="22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408122" y="967280"/>
            <a:ext cx="1907082" cy="409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51"/>
              </a:lnSpc>
              <a:spcBef>
                <a:spcPct val="0"/>
              </a:spcBef>
            </a:pPr>
            <a:r>
              <a:rPr lang="en-US" sz="22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726729" y="943100"/>
            <a:ext cx="1916881" cy="409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51"/>
              </a:lnSpc>
              <a:spcBef>
                <a:spcPct val="0"/>
              </a:spcBef>
            </a:pPr>
            <a:r>
              <a:rPr lang="en-US" b="true" sz="225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Content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034325" y="965066"/>
            <a:ext cx="2224975" cy="409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151"/>
              </a:lnSpc>
              <a:spcBef>
                <a:spcPct val="0"/>
              </a:spcBef>
            </a:pPr>
            <a:r>
              <a:rPr lang="en-US" sz="22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Others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052965" y="2502658"/>
            <a:ext cx="7647878" cy="4412552"/>
            <a:chOff x="0" y="0"/>
            <a:chExt cx="1612516" cy="93036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612516" cy="930364"/>
            </a:xfrm>
            <a:custGeom>
              <a:avLst/>
              <a:gdLst/>
              <a:ahLst/>
              <a:cxnLst/>
              <a:rect r="r" b="b" t="t" l="l"/>
              <a:pathLst>
                <a:path h="930364" w="1612516">
                  <a:moveTo>
                    <a:pt x="40492" y="0"/>
                  </a:moveTo>
                  <a:lnTo>
                    <a:pt x="1572024" y="0"/>
                  </a:lnTo>
                  <a:cubicBezTo>
                    <a:pt x="1594387" y="0"/>
                    <a:pt x="1612516" y="18129"/>
                    <a:pt x="1612516" y="40492"/>
                  </a:cubicBezTo>
                  <a:lnTo>
                    <a:pt x="1612516" y="889872"/>
                  </a:lnTo>
                  <a:cubicBezTo>
                    <a:pt x="1612516" y="912235"/>
                    <a:pt x="1594387" y="930364"/>
                    <a:pt x="1572024" y="930364"/>
                  </a:cubicBezTo>
                  <a:lnTo>
                    <a:pt x="40492" y="930364"/>
                  </a:lnTo>
                  <a:cubicBezTo>
                    <a:pt x="18129" y="930364"/>
                    <a:pt x="0" y="912235"/>
                    <a:pt x="0" y="889872"/>
                  </a:cubicBezTo>
                  <a:lnTo>
                    <a:pt x="0" y="40492"/>
                  </a:lnTo>
                  <a:cubicBezTo>
                    <a:pt x="0" y="18129"/>
                    <a:pt x="18129" y="0"/>
                    <a:pt x="40492" y="0"/>
                  </a:cubicBezTo>
                  <a:close/>
                </a:path>
              </a:pathLst>
            </a:custGeom>
            <a:blipFill>
              <a:blip r:embed="rId5"/>
              <a:stretch>
                <a:fillRect l="-4867" t="0" r="-4867" b="0"/>
              </a:stretch>
            </a:blipFill>
            <a:ln w="209550" cap="rnd">
              <a:gradFill>
                <a:gsLst>
                  <a:gs pos="0">
                    <a:srgbClr val="0039E6">
                      <a:alpha val="100000"/>
                    </a:srgbClr>
                  </a:gs>
                  <a:gs pos="100000">
                    <a:srgbClr val="3CFFE2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prstDash val="solid"/>
              <a:round/>
            </a:ln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A600FF">
                <a:alpha val="100000"/>
              </a:srgbClr>
            </a:gs>
            <a:gs pos="33333">
              <a:srgbClr val="00E8FF">
                <a:alpha val="100000"/>
              </a:srgbClr>
            </a:gs>
            <a:gs pos="66667">
              <a:srgbClr val="0F0059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52965" y="836497"/>
            <a:ext cx="384406" cy="384406"/>
          </a:xfrm>
          <a:custGeom>
            <a:avLst/>
            <a:gdLst/>
            <a:ahLst/>
            <a:cxnLst/>
            <a:rect r="r" b="b" t="t" l="l"/>
            <a:pathLst>
              <a:path h="384406" w="384406">
                <a:moveTo>
                  <a:pt x="0" y="0"/>
                </a:moveTo>
                <a:lnTo>
                  <a:pt x="384405" y="0"/>
                </a:lnTo>
                <a:lnTo>
                  <a:pt x="384405" y="384406"/>
                </a:lnTo>
                <a:lnTo>
                  <a:pt x="0" y="3844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34405" y="2356043"/>
            <a:ext cx="5936976" cy="6130346"/>
            <a:chOff x="0" y="0"/>
            <a:chExt cx="1278003" cy="131962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78003" cy="1319628"/>
            </a:xfrm>
            <a:custGeom>
              <a:avLst/>
              <a:gdLst/>
              <a:ahLst/>
              <a:cxnLst/>
              <a:rect r="r" b="b" t="t" l="l"/>
              <a:pathLst>
                <a:path h="1319628" w="1278003">
                  <a:moveTo>
                    <a:pt x="52161" y="0"/>
                  </a:moveTo>
                  <a:lnTo>
                    <a:pt x="1225842" y="0"/>
                  </a:lnTo>
                  <a:cubicBezTo>
                    <a:pt x="1239676" y="0"/>
                    <a:pt x="1252943" y="5495"/>
                    <a:pt x="1262725" y="15278"/>
                  </a:cubicBezTo>
                  <a:cubicBezTo>
                    <a:pt x="1272507" y="25060"/>
                    <a:pt x="1278003" y="38327"/>
                    <a:pt x="1278003" y="52161"/>
                  </a:cubicBezTo>
                  <a:lnTo>
                    <a:pt x="1278003" y="1267467"/>
                  </a:lnTo>
                  <a:cubicBezTo>
                    <a:pt x="1278003" y="1281301"/>
                    <a:pt x="1272507" y="1294569"/>
                    <a:pt x="1262725" y="1304351"/>
                  </a:cubicBezTo>
                  <a:cubicBezTo>
                    <a:pt x="1252943" y="1314133"/>
                    <a:pt x="1239676" y="1319628"/>
                    <a:pt x="1225842" y="1319628"/>
                  </a:cubicBezTo>
                  <a:lnTo>
                    <a:pt x="52161" y="1319628"/>
                  </a:lnTo>
                  <a:cubicBezTo>
                    <a:pt x="38327" y="1319628"/>
                    <a:pt x="25060" y="1314133"/>
                    <a:pt x="15278" y="1304351"/>
                  </a:cubicBezTo>
                  <a:cubicBezTo>
                    <a:pt x="5495" y="1294569"/>
                    <a:pt x="0" y="1281301"/>
                    <a:pt x="0" y="1267467"/>
                  </a:cubicBezTo>
                  <a:lnTo>
                    <a:pt x="0" y="52161"/>
                  </a:lnTo>
                  <a:cubicBezTo>
                    <a:pt x="0" y="38327"/>
                    <a:pt x="5495" y="25060"/>
                    <a:pt x="15278" y="15278"/>
                  </a:cubicBezTo>
                  <a:cubicBezTo>
                    <a:pt x="25060" y="5495"/>
                    <a:pt x="38327" y="0"/>
                    <a:pt x="52161" y="0"/>
                  </a:cubicBezTo>
                  <a:close/>
                </a:path>
              </a:pathLst>
            </a:custGeom>
            <a:blipFill>
              <a:blip r:embed="rId4"/>
              <a:stretch>
                <a:fillRect l="-6047" t="0" r="-48934" b="0"/>
              </a:stretch>
            </a:blipFill>
            <a:ln w="209550" cap="rnd">
              <a:gradFill>
                <a:gsLst>
                  <a:gs pos="0">
                    <a:srgbClr val="0039E6">
                      <a:alpha val="100000"/>
                    </a:srgbClr>
                  </a:gs>
                  <a:gs pos="100000">
                    <a:srgbClr val="3CFFE2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prstDash val="solid"/>
              <a:round/>
            </a:ln>
          </p:spPr>
        </p:sp>
      </p:grpSp>
      <p:sp>
        <p:nvSpPr>
          <p:cNvPr name="TextBox 5" id="5"/>
          <p:cNvSpPr txBox="true"/>
          <p:nvPr/>
        </p:nvSpPr>
        <p:spPr>
          <a:xfrm rot="0">
            <a:off x="1557999" y="828992"/>
            <a:ext cx="2916319" cy="34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Software Engineering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144000" y="965066"/>
            <a:ext cx="1662550" cy="409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151"/>
              </a:lnSpc>
              <a:spcBef>
                <a:spcPct val="0"/>
              </a:spcBef>
            </a:pPr>
            <a:r>
              <a:rPr lang="en-US" sz="22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408122" y="967280"/>
            <a:ext cx="1907082" cy="409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51"/>
              </a:lnSpc>
              <a:spcBef>
                <a:spcPct val="0"/>
              </a:spcBef>
            </a:pPr>
            <a:r>
              <a:rPr lang="en-US" sz="22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726729" y="943100"/>
            <a:ext cx="1916881" cy="409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51"/>
              </a:lnSpc>
              <a:spcBef>
                <a:spcPct val="0"/>
              </a:spcBef>
            </a:pPr>
            <a:r>
              <a:rPr lang="en-US" b="true" sz="225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Content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034325" y="965066"/>
            <a:ext cx="2224975" cy="409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151"/>
              </a:lnSpc>
              <a:spcBef>
                <a:spcPct val="0"/>
              </a:spcBef>
            </a:pPr>
            <a:r>
              <a:rPr lang="en-US" sz="22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Others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139128" y="1716811"/>
            <a:ext cx="8783812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8"/>
              </a:lnSpc>
            </a:pPr>
            <a:r>
              <a:rPr lang="en-US" sz="4598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REFLECTIONS &amp; CHALLENGES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122873" y="2633649"/>
            <a:ext cx="8023940" cy="6401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61337" indent="-280669" lvl="1">
              <a:lnSpc>
                <a:spcPts val="3639"/>
              </a:lnSpc>
              <a:buFont typeface="Arial"/>
              <a:buChar char="•"/>
            </a:pPr>
            <a:r>
              <a:rPr lang="en-US" b="true" sz="25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Issues faced: </a:t>
            </a:r>
          </a:p>
          <a:p>
            <a:pPr algn="just">
              <a:lnSpc>
                <a:spcPts val="3639"/>
              </a:lnSpc>
            </a:pPr>
            <a:r>
              <a:rPr lang="en-US" sz="25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API rate limits;</a:t>
            </a:r>
          </a:p>
          <a:p>
            <a:pPr algn="just">
              <a:lnSpc>
                <a:spcPts val="3639"/>
              </a:lnSpc>
            </a:pPr>
            <a:r>
              <a:rPr lang="en-US" sz="25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Cross-origin request issues on web;</a:t>
            </a:r>
          </a:p>
          <a:p>
            <a:pPr algn="just">
              <a:lnSpc>
                <a:spcPts val="3639"/>
              </a:lnSpc>
            </a:pPr>
            <a:r>
              <a:rPr lang="en-US" sz="25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Team coordination on GitHub merges;</a:t>
            </a:r>
          </a:p>
          <a:p>
            <a:pPr algn="just" marL="561337" indent="-280669" lvl="1">
              <a:lnSpc>
                <a:spcPts val="3639"/>
              </a:lnSpc>
              <a:buFont typeface="Arial"/>
              <a:buChar char="•"/>
            </a:pPr>
            <a:r>
              <a:rPr lang="en-US" b="true" sz="25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Solutions:</a:t>
            </a:r>
          </a:p>
          <a:p>
            <a:pPr algn="just">
              <a:lnSpc>
                <a:spcPts val="3639"/>
              </a:lnSpc>
            </a:pPr>
            <a:r>
              <a:rPr lang="en-US" sz="25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Implemented error handling and logging;</a:t>
            </a:r>
          </a:p>
          <a:p>
            <a:pPr algn="just">
              <a:lnSpc>
                <a:spcPts val="3639"/>
              </a:lnSpc>
            </a:pPr>
            <a:r>
              <a:rPr lang="en-US" sz="25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Used .env configuration for flexible debugging;</a:t>
            </a:r>
          </a:p>
          <a:p>
            <a:pPr algn="just">
              <a:lnSpc>
                <a:spcPts val="3639"/>
              </a:lnSpc>
            </a:pPr>
            <a:r>
              <a:rPr lang="en-US" sz="25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Weekly sync-ups &amp; pull request code reviews;</a:t>
            </a:r>
          </a:p>
          <a:p>
            <a:pPr algn="just" marL="561337" indent="-280669" lvl="1">
              <a:lnSpc>
                <a:spcPts val="3639"/>
              </a:lnSpc>
              <a:buFont typeface="Arial"/>
              <a:buChar char="•"/>
            </a:pPr>
            <a:r>
              <a:rPr lang="en-US" b="true" sz="25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Learnings:</a:t>
            </a:r>
          </a:p>
          <a:p>
            <a:pPr algn="just">
              <a:lnSpc>
                <a:spcPts val="3639"/>
              </a:lnSpc>
            </a:pPr>
            <a:r>
              <a:rPr lang="en-US" sz="25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Working in a full-stack project;</a:t>
            </a:r>
          </a:p>
          <a:p>
            <a:pPr algn="just">
              <a:lnSpc>
                <a:spcPts val="3639"/>
              </a:lnSpc>
            </a:pPr>
            <a:r>
              <a:rPr lang="en-US" sz="25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Handling REST APIs from both frontend and backend;</a:t>
            </a:r>
          </a:p>
          <a:p>
            <a:pPr algn="just">
              <a:lnSpc>
                <a:spcPts val="3639"/>
              </a:lnSpc>
            </a:pPr>
            <a:r>
              <a:rPr lang="en-US" sz="25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Writing clean, collaborative code;</a:t>
            </a:r>
          </a:p>
          <a:p>
            <a:pPr algn="just" marL="0" indent="0" lvl="0">
              <a:lnSpc>
                <a:spcPts val="363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50004A">
                <a:alpha val="100000"/>
              </a:srgbClr>
            </a:gs>
            <a:gs pos="33333">
              <a:srgbClr val="31B4CB">
                <a:alpha val="100000"/>
              </a:srgbClr>
            </a:gs>
            <a:gs pos="66667">
              <a:srgbClr val="000000">
                <a:alpha val="100000"/>
              </a:srgbClr>
            </a:gs>
            <a:gs pos="100000">
              <a:srgbClr val="0F0059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52965" y="836497"/>
            <a:ext cx="384406" cy="384406"/>
          </a:xfrm>
          <a:custGeom>
            <a:avLst/>
            <a:gdLst/>
            <a:ahLst/>
            <a:cxnLst/>
            <a:rect r="r" b="b" t="t" l="l"/>
            <a:pathLst>
              <a:path h="384406" w="384406">
                <a:moveTo>
                  <a:pt x="0" y="0"/>
                </a:moveTo>
                <a:lnTo>
                  <a:pt x="384405" y="0"/>
                </a:lnTo>
                <a:lnTo>
                  <a:pt x="384405" y="384406"/>
                </a:lnTo>
                <a:lnTo>
                  <a:pt x="0" y="3844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685170" y="-4486779"/>
            <a:ext cx="9639356" cy="8229600"/>
          </a:xfrm>
          <a:custGeom>
            <a:avLst/>
            <a:gdLst/>
            <a:ahLst/>
            <a:cxnLst/>
            <a:rect r="r" b="b" t="t" l="l"/>
            <a:pathLst>
              <a:path h="8229600" w="9639356">
                <a:moveTo>
                  <a:pt x="0" y="0"/>
                </a:moveTo>
                <a:lnTo>
                  <a:pt x="9639356" y="0"/>
                </a:lnTo>
                <a:lnTo>
                  <a:pt x="9639356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557999" y="828992"/>
            <a:ext cx="2916319" cy="34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Software Engineering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144000" y="965066"/>
            <a:ext cx="1662550" cy="409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151"/>
              </a:lnSpc>
              <a:spcBef>
                <a:spcPct val="0"/>
              </a:spcBef>
            </a:pPr>
            <a:r>
              <a:rPr lang="en-US" sz="22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408122" y="967280"/>
            <a:ext cx="1907082" cy="409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51"/>
              </a:lnSpc>
              <a:spcBef>
                <a:spcPct val="0"/>
              </a:spcBef>
            </a:pPr>
            <a:r>
              <a:rPr lang="en-US" sz="22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726729" y="943100"/>
            <a:ext cx="1916881" cy="409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51"/>
              </a:lnSpc>
              <a:spcBef>
                <a:spcPct val="0"/>
              </a:spcBef>
            </a:pPr>
            <a:r>
              <a:rPr lang="en-US" b="true" sz="225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Content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034325" y="965066"/>
            <a:ext cx="2224975" cy="409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151"/>
              </a:lnSpc>
              <a:spcBef>
                <a:spcPct val="0"/>
              </a:spcBef>
            </a:pPr>
            <a:r>
              <a:rPr lang="en-US" sz="22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Others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364110" y="1771391"/>
            <a:ext cx="14569482" cy="1273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45"/>
              </a:lnSpc>
            </a:pPr>
            <a:r>
              <a:rPr lang="en-US" b="true" sz="7871">
                <a:solidFill>
                  <a:srgbClr val="65FFE8"/>
                </a:solidFill>
                <a:latin typeface="Poppins Bold"/>
                <a:ea typeface="Poppins Bold"/>
                <a:cs typeface="Poppins Bold"/>
                <a:sym typeface="Poppins Bold"/>
              </a:rPr>
              <a:t>GITHUB WORKFLOW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86794" y="3628521"/>
            <a:ext cx="15577055" cy="3814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931590" indent="-465795" lvl="1">
              <a:lnSpc>
                <a:spcPts val="604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4314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Branching for features (feature/web-ui, cli-r</a:t>
            </a:r>
            <a:r>
              <a:rPr lang="en-US" b="true" sz="4314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outing)</a:t>
            </a:r>
          </a:p>
          <a:p>
            <a:pPr algn="ctr" marL="931590" indent="-465795" lvl="1">
              <a:lnSpc>
                <a:spcPts val="604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4314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Team members worked in parallel branches</a:t>
            </a:r>
          </a:p>
          <a:p>
            <a:pPr algn="ctr" marL="931590" indent="-465795" lvl="1">
              <a:lnSpc>
                <a:spcPts val="604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4314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Used Pull Requests, Code Reviews, and Merging</a:t>
            </a:r>
          </a:p>
          <a:p>
            <a:pPr algn="ctr" marL="931590" indent="-465795" lvl="1">
              <a:lnSpc>
                <a:spcPts val="604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4314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GitHub Issues used for task tracking</a:t>
            </a:r>
          </a:p>
          <a:p>
            <a:pPr algn="ctr">
              <a:lnSpc>
                <a:spcPts val="604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50004A">
                <a:alpha val="100000"/>
              </a:srgbClr>
            </a:gs>
            <a:gs pos="33333">
              <a:srgbClr val="31B4CB">
                <a:alpha val="100000"/>
              </a:srgbClr>
            </a:gs>
            <a:gs pos="66667">
              <a:srgbClr val="000000">
                <a:alpha val="100000"/>
              </a:srgbClr>
            </a:gs>
            <a:gs pos="100000">
              <a:srgbClr val="0F0059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52965" y="836497"/>
            <a:ext cx="384406" cy="384406"/>
          </a:xfrm>
          <a:custGeom>
            <a:avLst/>
            <a:gdLst/>
            <a:ahLst/>
            <a:cxnLst/>
            <a:rect r="r" b="b" t="t" l="l"/>
            <a:pathLst>
              <a:path h="384406" w="384406">
                <a:moveTo>
                  <a:pt x="0" y="0"/>
                </a:moveTo>
                <a:lnTo>
                  <a:pt x="384405" y="0"/>
                </a:lnTo>
                <a:lnTo>
                  <a:pt x="384405" y="384406"/>
                </a:lnTo>
                <a:lnTo>
                  <a:pt x="0" y="3844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685170" y="-4486779"/>
            <a:ext cx="9639356" cy="8229600"/>
          </a:xfrm>
          <a:custGeom>
            <a:avLst/>
            <a:gdLst/>
            <a:ahLst/>
            <a:cxnLst/>
            <a:rect r="r" b="b" t="t" l="l"/>
            <a:pathLst>
              <a:path h="8229600" w="9639356">
                <a:moveTo>
                  <a:pt x="0" y="0"/>
                </a:moveTo>
                <a:lnTo>
                  <a:pt x="9639356" y="0"/>
                </a:lnTo>
                <a:lnTo>
                  <a:pt x="9639356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557999" y="828992"/>
            <a:ext cx="2916319" cy="34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Software Engineering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144000" y="965066"/>
            <a:ext cx="1662550" cy="409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151"/>
              </a:lnSpc>
              <a:spcBef>
                <a:spcPct val="0"/>
              </a:spcBef>
            </a:pPr>
            <a:r>
              <a:rPr lang="en-US" sz="22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408122" y="967280"/>
            <a:ext cx="1907082" cy="409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51"/>
              </a:lnSpc>
              <a:spcBef>
                <a:spcPct val="0"/>
              </a:spcBef>
            </a:pPr>
            <a:r>
              <a:rPr lang="en-US" sz="22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726729" y="943100"/>
            <a:ext cx="1916881" cy="409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51"/>
              </a:lnSpc>
              <a:spcBef>
                <a:spcPct val="0"/>
              </a:spcBef>
            </a:pPr>
            <a:r>
              <a:rPr lang="en-US" b="true" sz="225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Content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034325" y="965066"/>
            <a:ext cx="2224975" cy="409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151"/>
              </a:lnSpc>
              <a:spcBef>
                <a:spcPct val="0"/>
              </a:spcBef>
            </a:pPr>
            <a:r>
              <a:rPr lang="en-US" sz="22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Others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57999" y="1824876"/>
            <a:ext cx="16206335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85"/>
              </a:lnSpc>
            </a:pPr>
            <a:r>
              <a:rPr lang="en-US" b="true" sz="6571">
                <a:solidFill>
                  <a:srgbClr val="65FFE8"/>
                </a:solidFill>
                <a:latin typeface="Poppins Bold"/>
                <a:ea typeface="Poppins Bold"/>
                <a:cs typeface="Poppins Bold"/>
                <a:sym typeface="Poppins Bold"/>
              </a:rPr>
              <a:t>FUTURE ENHANCEMENTS (BACKLOG)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57999" y="3263531"/>
            <a:ext cx="15701301" cy="5483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1119354" indent="-559677" lvl="1">
              <a:lnSpc>
                <a:spcPts val="7258"/>
              </a:lnSpc>
              <a:buFont typeface="Arial"/>
              <a:buChar char="•"/>
            </a:pPr>
            <a:r>
              <a:rPr lang="en-US" b="true" sz="5184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Add real-time traffic data</a:t>
            </a:r>
          </a:p>
          <a:p>
            <a:pPr algn="ctr" marL="1119354" indent="-559677" lvl="1">
              <a:lnSpc>
                <a:spcPts val="7258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5184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Support multi-stop r</a:t>
            </a:r>
            <a:r>
              <a:rPr lang="en-US" b="true" sz="5184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outing</a:t>
            </a:r>
          </a:p>
          <a:p>
            <a:pPr algn="ctr" marL="1119354" indent="-559677" lvl="1">
              <a:lnSpc>
                <a:spcPts val="7258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5184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L</a:t>
            </a:r>
            <a:r>
              <a:rPr lang="en-US" b="true" sz="5184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ocal language translation support</a:t>
            </a:r>
          </a:p>
          <a:p>
            <a:pPr algn="ctr" marL="1119354" indent="-559677" lvl="1">
              <a:lnSpc>
                <a:spcPts val="7258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5184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Export directions as PDF or JSON</a:t>
            </a:r>
          </a:p>
          <a:p>
            <a:pPr algn="ctr" marL="1119354" indent="-559677" lvl="1">
              <a:lnSpc>
                <a:spcPts val="7258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5184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Mob</a:t>
            </a:r>
            <a:r>
              <a:rPr lang="en-US" b="true" sz="5184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ile application (React Native or Flutter)</a:t>
            </a:r>
          </a:p>
          <a:p>
            <a:pPr algn="ctr">
              <a:lnSpc>
                <a:spcPts val="7258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50004A">
                <a:alpha val="100000"/>
              </a:srgbClr>
            </a:gs>
            <a:gs pos="33333">
              <a:srgbClr val="31B4CB">
                <a:alpha val="100000"/>
              </a:srgbClr>
            </a:gs>
            <a:gs pos="66667">
              <a:srgbClr val="000000">
                <a:alpha val="100000"/>
              </a:srgbClr>
            </a:gs>
            <a:gs pos="100000">
              <a:srgbClr val="0F0059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088002" y="1516418"/>
            <a:ext cx="7695211" cy="6358331"/>
          </a:xfrm>
          <a:custGeom>
            <a:avLst/>
            <a:gdLst/>
            <a:ahLst/>
            <a:cxnLst/>
            <a:rect r="r" b="b" t="t" l="l"/>
            <a:pathLst>
              <a:path h="6358331" w="7695211">
                <a:moveTo>
                  <a:pt x="0" y="0"/>
                </a:moveTo>
                <a:lnTo>
                  <a:pt x="7695211" y="0"/>
                </a:lnTo>
                <a:lnTo>
                  <a:pt x="7695211" y="6358332"/>
                </a:lnTo>
                <a:lnTo>
                  <a:pt x="0" y="63583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077907" y="7731875"/>
            <a:ext cx="3715400" cy="909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71"/>
              </a:lnSpc>
            </a:pPr>
            <a:r>
              <a:rPr lang="en-US" sz="5051" u="sng">
                <a:solidFill>
                  <a:srgbClr val="65FFE8"/>
                </a:solidFill>
                <a:latin typeface="Poppins"/>
                <a:ea typeface="Poppins"/>
                <a:cs typeface="Poppins"/>
                <a:sym typeface="Poppins"/>
                <a:hlinkClick r:id="rId4" tooltip="https://github.com/Software-Engineering-8-8-8-8-Squad/navigator-assistant"/>
              </a:rPr>
              <a:t>GITHUB LINK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DAGmZfpkETs</dc:identifier>
  <dcterms:modified xsi:type="dcterms:W3CDTF">2011-08-01T06:04:30Z</dcterms:modified>
  <cp:revision>1</cp:revision>
  <dc:title>Navigator Assistant</dc:title>
</cp:coreProperties>
</file>